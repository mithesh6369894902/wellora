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EA580C"/>
          </a:solidFill>
          <a:ln/>
        </p:spPr>
      </p:sp>
      <p:sp>
        <p:nvSpPr>
          <p:cNvPr id="3" name="Shape 1"/>
          <p:cNvSpPr/>
          <p:nvPr/>
        </p:nvSpPr>
        <p:spPr>
          <a:xfrm>
            <a:off x="914400" y="731520"/>
            <a:ext cx="10362895" cy="5303520"/>
          </a:xfrm>
          <a:prstGeom prst="roundRect">
            <a:avLst>
              <a:gd name="adj" fmla="val 2586"/>
            </a:avLst>
          </a:prstGeom>
          <a:solidFill>
            <a:srgbClr val="FFFFFF"/>
          </a:solidFill>
          <a:ln w="25400">
            <a:solidFill>
              <a:srgbClr val="FDBA74"/>
            </a:solidFill>
            <a:prstDash val="solid"/>
          </a:ln>
        </p:spPr>
      </p:sp>
      <p:sp>
        <p:nvSpPr>
          <p:cNvPr id="4" name="Shape 2"/>
          <p:cNvSpPr/>
          <p:nvPr/>
        </p:nvSpPr>
        <p:spPr>
          <a:xfrm>
            <a:off x="1371600" y="1097280"/>
            <a:ext cx="4389120" cy="347472"/>
          </a:xfrm>
          <a:prstGeom prst="roundRect">
            <a:avLst>
              <a:gd name="adj" fmla="val 21053"/>
            </a:avLst>
          </a:prstGeom>
          <a:solidFill>
            <a:srgbClr val="FFF7ED"/>
          </a:solidFill>
          <a:ln w="15240">
            <a:solidFill>
              <a:srgbClr val="FDBA74"/>
            </a:solidFill>
            <a:prstDash val="solid"/>
          </a:ln>
        </p:spPr>
      </p:sp>
      <p:sp>
        <p:nvSpPr>
          <p:cNvPr id="5" name="Text 3"/>
          <p:cNvSpPr/>
          <p:nvPr/>
        </p:nvSpPr>
        <p:spPr>
          <a:xfrm>
            <a:off x="1371600" y="1097280"/>
            <a:ext cx="4389120" cy="347472"/>
          </a:xfrm>
          <a:prstGeom prst="rect">
            <a:avLst/>
          </a:prstGeom>
          <a:noFill/>
          <a:ln/>
        </p:spPr>
        <p:txBody>
          <a:bodyPr wrap="square" rtlCol="0" anchor="ctr"/>
          <a:lstStyle/>
          <a:p>
            <a:pPr algn="ctr" indent="0" marL="0">
              <a:buNone/>
            </a:pPr>
            <a:r>
              <a:rPr lang="en-US" sz="950" b="1" dirty="0">
                <a:solidFill>
                  <a:srgbClr val="C2410C"/>
                </a:solidFill>
              </a:rPr>
              <a:t>⚡ DUAL-PHYSICS DIGITAL TWIN &amp; AI OPTIMIZATION</a:t>
            </a:r>
            <a:endParaRPr lang="en-US" sz="950" dirty="0"/>
          </a:p>
        </p:txBody>
      </p:sp>
      <p:sp>
        <p:nvSpPr>
          <p:cNvPr id="6" name="Text 4"/>
          <p:cNvSpPr/>
          <p:nvPr/>
        </p:nvSpPr>
        <p:spPr>
          <a:xfrm>
            <a:off x="1371600" y="1600200"/>
            <a:ext cx="9144000" cy="914400"/>
          </a:xfrm>
          <a:prstGeom prst="rect">
            <a:avLst/>
          </a:prstGeom>
          <a:noFill/>
          <a:ln/>
        </p:spPr>
        <p:txBody>
          <a:bodyPr wrap="square" rtlCol="0" anchor="ctr"/>
          <a:lstStyle/>
          <a:p>
            <a:pPr indent="0" marL="0">
              <a:buNone/>
            </a:pPr>
            <a:r>
              <a:rPr lang="en-US" sz="4800" b="1" dirty="0">
                <a:solidFill>
                  <a:srgbClr val="EA580C"/>
                </a:solidFill>
                <a:latin typeface="Segoe UI" pitchFamily="34" charset="0"/>
                <a:ea typeface="Segoe UI" pitchFamily="34" charset="-122"/>
                <a:cs typeface="Segoe UI" pitchFamily="34" charset="-120"/>
              </a:rPr>
              <a:t>WELLORA</a:t>
            </a:r>
            <a:endParaRPr lang="en-US" sz="4800" dirty="0"/>
          </a:p>
        </p:txBody>
      </p:sp>
      <p:sp>
        <p:nvSpPr>
          <p:cNvPr id="7" name="Text 5"/>
          <p:cNvSpPr/>
          <p:nvPr/>
        </p:nvSpPr>
        <p:spPr>
          <a:xfrm>
            <a:off x="1371600" y="2560320"/>
            <a:ext cx="9418320" cy="548640"/>
          </a:xfrm>
          <a:prstGeom prst="rect">
            <a:avLst/>
          </a:prstGeom>
          <a:noFill/>
          <a:ln/>
        </p:spPr>
        <p:txBody>
          <a:bodyPr wrap="square" rtlCol="0" anchor="ctr"/>
          <a:lstStyle/>
          <a:p>
            <a:pPr indent="0" marL="0">
              <a:buNone/>
            </a:pPr>
            <a:r>
              <a:rPr lang="en-US" sz="1800" b="1" dirty="0">
                <a:solidFill>
                  <a:srgbClr val="0F172A"/>
                </a:solidFill>
                <a:latin typeface="Segoe UI" pitchFamily="34" charset="0"/>
                <a:ea typeface="Segoe UI" pitchFamily="34" charset="-122"/>
                <a:cs typeface="Segoe UI" pitchFamily="34" charset="-120"/>
              </a:rPr>
              <a:t>Dual-Physics Digital Twin &amp; Real-Time SCADA AI Optimization System for Heavy Crude (17.5° API)</a:t>
            </a:r>
            <a:endParaRPr lang="en-US" sz="1800" dirty="0"/>
          </a:p>
        </p:txBody>
      </p:sp>
      <p:sp>
        <p:nvSpPr>
          <p:cNvPr id="8" name="Text 6"/>
          <p:cNvSpPr/>
          <p:nvPr/>
        </p:nvSpPr>
        <p:spPr>
          <a:xfrm>
            <a:off x="1371600" y="3200400"/>
            <a:ext cx="9418320" cy="731520"/>
          </a:xfrm>
          <a:prstGeom prst="rect">
            <a:avLst/>
          </a:prstGeom>
          <a:noFill/>
          <a:ln/>
        </p:spPr>
        <p:txBody>
          <a:bodyPr wrap="square" rtlCol="0" anchor="ctr"/>
          <a:lstStyle/>
          <a:p>
            <a:pPr indent="0" marL="0">
              <a:buNone/>
            </a:pPr>
            <a:r>
              <a:rPr lang="en-US" sz="1250" dirty="0">
                <a:solidFill>
                  <a:srgbClr val="334155"/>
                </a:solidFill>
                <a:latin typeface="Segoe UI" pitchFamily="34" charset="0"/>
                <a:ea typeface="Segoe UI" pitchFamily="34" charset="-122"/>
                <a:cs typeface="Segoe UI" pitchFamily="34" charset="-120"/>
              </a:rPr>
              <a:t>Coupled Andrade Thermal Viscosity Modeling, Sucker Rod Pump (SRP) Kinematics, Cyclic Steam Stimulation (CSS) Enhanced Oil Recovery, Live SCADA Oscilloscope &amp; Conversational AI Copilot</a:t>
            </a:r>
            <a:endParaRPr lang="en-US" sz="1250" dirty="0"/>
          </a:p>
        </p:txBody>
      </p:sp>
      <p:sp>
        <p:nvSpPr>
          <p:cNvPr id="9" name="Shape 7"/>
          <p:cNvSpPr/>
          <p:nvPr/>
        </p:nvSpPr>
        <p:spPr>
          <a:xfrm>
            <a:off x="1371600" y="4069080"/>
            <a:ext cx="1783080" cy="320040"/>
          </a:xfrm>
          <a:prstGeom prst="roundRect">
            <a:avLst>
              <a:gd name="adj" fmla="val 17143"/>
            </a:avLst>
          </a:prstGeom>
          <a:solidFill>
            <a:srgbClr val="FFF7ED"/>
          </a:solidFill>
          <a:ln w="12700">
            <a:solidFill>
              <a:srgbClr val="FDBA74"/>
            </a:solidFill>
            <a:prstDash val="solid"/>
          </a:ln>
        </p:spPr>
      </p:sp>
      <p:sp>
        <p:nvSpPr>
          <p:cNvPr id="10" name="Text 8"/>
          <p:cNvSpPr/>
          <p:nvPr/>
        </p:nvSpPr>
        <p:spPr>
          <a:xfrm>
            <a:off x="1371600" y="4069080"/>
            <a:ext cx="1783080" cy="320040"/>
          </a:xfrm>
          <a:prstGeom prst="rect">
            <a:avLst/>
          </a:prstGeom>
          <a:noFill/>
          <a:ln/>
        </p:spPr>
        <p:txBody>
          <a:bodyPr wrap="square" rtlCol="0" anchor="ctr"/>
          <a:lstStyle/>
          <a:p>
            <a:pPr algn="ctr" indent="0" marL="0">
              <a:buNone/>
            </a:pPr>
            <a:r>
              <a:rPr lang="en-US" sz="850" b="1" dirty="0">
                <a:solidFill>
                  <a:srgbClr val="C2410C"/>
                </a:solidFill>
              </a:rPr>
              <a:t>React 18 + TS</a:t>
            </a:r>
            <a:endParaRPr lang="en-US" sz="850" dirty="0"/>
          </a:p>
        </p:txBody>
      </p:sp>
      <p:sp>
        <p:nvSpPr>
          <p:cNvPr id="11" name="Shape 9"/>
          <p:cNvSpPr/>
          <p:nvPr/>
        </p:nvSpPr>
        <p:spPr>
          <a:xfrm>
            <a:off x="3246120" y="4069080"/>
            <a:ext cx="1783080" cy="320040"/>
          </a:xfrm>
          <a:prstGeom prst="roundRect">
            <a:avLst>
              <a:gd name="adj" fmla="val 17143"/>
            </a:avLst>
          </a:prstGeom>
          <a:solidFill>
            <a:srgbClr val="FFF7ED"/>
          </a:solidFill>
          <a:ln w="12700">
            <a:solidFill>
              <a:srgbClr val="FDBA74"/>
            </a:solidFill>
            <a:prstDash val="solid"/>
          </a:ln>
        </p:spPr>
      </p:sp>
      <p:sp>
        <p:nvSpPr>
          <p:cNvPr id="12" name="Text 10"/>
          <p:cNvSpPr/>
          <p:nvPr/>
        </p:nvSpPr>
        <p:spPr>
          <a:xfrm>
            <a:off x="3246120" y="4069080"/>
            <a:ext cx="1783080" cy="320040"/>
          </a:xfrm>
          <a:prstGeom prst="rect">
            <a:avLst/>
          </a:prstGeom>
          <a:noFill/>
          <a:ln/>
        </p:spPr>
        <p:txBody>
          <a:bodyPr wrap="square" rtlCol="0" anchor="ctr"/>
          <a:lstStyle/>
          <a:p>
            <a:pPr algn="ctr" indent="0" marL="0">
              <a:buNone/>
            </a:pPr>
            <a:r>
              <a:rPr lang="en-US" sz="850" b="1" dirty="0">
                <a:solidFill>
                  <a:srgbClr val="C2410C"/>
                </a:solidFill>
              </a:rPr>
              <a:t>Thermal EOR ODE Solver</a:t>
            </a:r>
            <a:endParaRPr lang="en-US" sz="850" dirty="0"/>
          </a:p>
        </p:txBody>
      </p:sp>
      <p:sp>
        <p:nvSpPr>
          <p:cNvPr id="13" name="Shape 11"/>
          <p:cNvSpPr/>
          <p:nvPr/>
        </p:nvSpPr>
        <p:spPr>
          <a:xfrm>
            <a:off x="5120640" y="4069080"/>
            <a:ext cx="1783080" cy="320040"/>
          </a:xfrm>
          <a:prstGeom prst="roundRect">
            <a:avLst>
              <a:gd name="adj" fmla="val 17143"/>
            </a:avLst>
          </a:prstGeom>
          <a:solidFill>
            <a:srgbClr val="FFF7ED"/>
          </a:solidFill>
          <a:ln w="12700">
            <a:solidFill>
              <a:srgbClr val="FDBA74"/>
            </a:solidFill>
            <a:prstDash val="solid"/>
          </a:ln>
        </p:spPr>
      </p:sp>
      <p:sp>
        <p:nvSpPr>
          <p:cNvPr id="14" name="Text 12"/>
          <p:cNvSpPr/>
          <p:nvPr/>
        </p:nvSpPr>
        <p:spPr>
          <a:xfrm>
            <a:off x="5120640" y="4069080"/>
            <a:ext cx="1783080" cy="320040"/>
          </a:xfrm>
          <a:prstGeom prst="rect">
            <a:avLst/>
          </a:prstGeom>
          <a:noFill/>
          <a:ln/>
        </p:spPr>
        <p:txBody>
          <a:bodyPr wrap="square" rtlCol="0" anchor="ctr"/>
          <a:lstStyle/>
          <a:p>
            <a:pPr algn="ctr" indent="0" marL="0">
              <a:buNone/>
            </a:pPr>
            <a:r>
              <a:rPr lang="en-US" sz="850" b="1" dirty="0">
                <a:solidFill>
                  <a:srgbClr val="C2410C"/>
                </a:solidFill>
              </a:rPr>
              <a:t>2.0 Hz Real-Time SCADA</a:t>
            </a:r>
            <a:endParaRPr lang="en-US" sz="850" dirty="0"/>
          </a:p>
        </p:txBody>
      </p:sp>
      <p:sp>
        <p:nvSpPr>
          <p:cNvPr id="15" name="Shape 13"/>
          <p:cNvSpPr/>
          <p:nvPr/>
        </p:nvSpPr>
        <p:spPr>
          <a:xfrm>
            <a:off x="6995160" y="4069080"/>
            <a:ext cx="1783080" cy="320040"/>
          </a:xfrm>
          <a:prstGeom prst="roundRect">
            <a:avLst>
              <a:gd name="adj" fmla="val 17143"/>
            </a:avLst>
          </a:prstGeom>
          <a:solidFill>
            <a:srgbClr val="FFF7ED"/>
          </a:solidFill>
          <a:ln w="12700">
            <a:solidFill>
              <a:srgbClr val="FDBA74"/>
            </a:solidFill>
            <a:prstDash val="solid"/>
          </a:ln>
        </p:spPr>
      </p:sp>
      <p:sp>
        <p:nvSpPr>
          <p:cNvPr id="16" name="Text 14"/>
          <p:cNvSpPr/>
          <p:nvPr/>
        </p:nvSpPr>
        <p:spPr>
          <a:xfrm>
            <a:off x="6995160" y="4069080"/>
            <a:ext cx="1783080" cy="320040"/>
          </a:xfrm>
          <a:prstGeom prst="rect">
            <a:avLst/>
          </a:prstGeom>
          <a:noFill/>
          <a:ln/>
        </p:spPr>
        <p:txBody>
          <a:bodyPr wrap="square" rtlCol="0" anchor="ctr"/>
          <a:lstStyle/>
          <a:p>
            <a:pPr algn="ctr" indent="0" marL="0">
              <a:buNone/>
            </a:pPr>
            <a:r>
              <a:rPr lang="en-US" sz="850" b="1" dirty="0">
                <a:solidFill>
                  <a:srgbClr val="C2410C"/>
                </a:solidFill>
              </a:rPr>
              <a:t>Laser Dynamometer</a:t>
            </a:r>
            <a:endParaRPr lang="en-US" sz="850" dirty="0"/>
          </a:p>
        </p:txBody>
      </p:sp>
      <p:sp>
        <p:nvSpPr>
          <p:cNvPr id="17" name="Shape 15"/>
          <p:cNvSpPr/>
          <p:nvPr/>
        </p:nvSpPr>
        <p:spPr>
          <a:xfrm>
            <a:off x="8869680" y="4069080"/>
            <a:ext cx="1783080" cy="320040"/>
          </a:xfrm>
          <a:prstGeom prst="roundRect">
            <a:avLst>
              <a:gd name="adj" fmla="val 17143"/>
            </a:avLst>
          </a:prstGeom>
          <a:solidFill>
            <a:srgbClr val="FFF7ED"/>
          </a:solidFill>
          <a:ln w="12700">
            <a:solidFill>
              <a:srgbClr val="FDBA74"/>
            </a:solidFill>
            <a:prstDash val="solid"/>
          </a:ln>
        </p:spPr>
      </p:sp>
      <p:sp>
        <p:nvSpPr>
          <p:cNvPr id="18" name="Text 16"/>
          <p:cNvSpPr/>
          <p:nvPr/>
        </p:nvSpPr>
        <p:spPr>
          <a:xfrm>
            <a:off x="8869680" y="4069080"/>
            <a:ext cx="1783080" cy="320040"/>
          </a:xfrm>
          <a:prstGeom prst="rect">
            <a:avLst/>
          </a:prstGeom>
          <a:noFill/>
          <a:ln/>
        </p:spPr>
        <p:txBody>
          <a:bodyPr wrap="square" rtlCol="0" anchor="ctr"/>
          <a:lstStyle/>
          <a:p>
            <a:pPr algn="ctr" indent="0" marL="0">
              <a:buNone/>
            </a:pPr>
            <a:r>
              <a:rPr lang="en-US" sz="850" b="1" dirty="0">
                <a:solidFill>
                  <a:srgbClr val="C2410C"/>
                </a:solidFill>
              </a:rPr>
              <a:t>Conversational AI Copilot</a:t>
            </a:r>
            <a:endParaRPr lang="en-US" sz="850" dirty="0"/>
          </a:p>
        </p:txBody>
      </p:sp>
      <p:sp>
        <p:nvSpPr>
          <p:cNvPr id="19" name="Text 17"/>
          <p:cNvSpPr/>
          <p:nvPr/>
        </p:nvSpPr>
        <p:spPr>
          <a:xfrm>
            <a:off x="1371600" y="4663440"/>
            <a:ext cx="5943600" cy="731520"/>
          </a:xfrm>
          <a:prstGeom prst="rect">
            <a:avLst/>
          </a:prstGeom>
          <a:noFill/>
          <a:ln/>
        </p:spPr>
        <p:txBody>
          <a:bodyPr wrap="square" rtlCol="0" anchor="ctr"/>
          <a:lstStyle/>
          <a:p>
            <a:pPr indent="0" marL="0">
              <a:buNone/>
            </a:pPr>
            <a:r>
              <a:rPr lang="en-US" sz="1100" b="1" dirty="0">
                <a:solidFill>
                  <a:srgbClr val="0F172A"/>
                </a:solidFill>
                <a:latin typeface="Segoe UI" pitchFamily="34" charset="0"/>
                <a:ea typeface="Segoe UI" pitchFamily="34" charset="-122"/>
                <a:cs typeface="Segoe UI" pitchFamily="34" charset="-120"/>
              </a:rPr>
              <a:t>Presented by: Mithesh D</a:t>
            </a:r>
            <a:endParaRPr lang="en-US" sz="1100" dirty="0"/>
          </a:p>
          <a:p>
            <a:pPr indent="0" marL="0">
              <a:buNone/>
            </a:pPr>
            <a:r>
              <a:rPr lang="en-US" sz="1100" b="1" dirty="0">
                <a:solidFill>
                  <a:srgbClr val="0F172A"/>
                </a:solidFill>
                <a:latin typeface="Segoe UI" pitchFamily="34" charset="0"/>
                <a:ea typeface="Segoe UI" pitchFamily="34" charset="-122"/>
                <a:cs typeface="Segoe UI" pitchFamily="34" charset="-120"/>
              </a:rPr>
              <a:t>Domain: Petroleum Digital Twin &amp; Industrial SCADA Automation</a:t>
            </a:r>
            <a:endParaRPr lang="en-US" sz="1100" dirty="0"/>
          </a:p>
        </p:txBody>
      </p:sp>
      <p:sp>
        <p:nvSpPr>
          <p:cNvPr id="20" name="Text 18"/>
          <p:cNvSpPr/>
          <p:nvPr/>
        </p:nvSpPr>
        <p:spPr>
          <a:xfrm>
            <a:off x="7315200" y="4663440"/>
            <a:ext cx="3474720" cy="731520"/>
          </a:xfrm>
          <a:prstGeom prst="rect">
            <a:avLst/>
          </a:prstGeom>
          <a:noFill/>
          <a:ln/>
        </p:spPr>
        <p:txBody>
          <a:bodyPr wrap="square" rtlCol="0" anchor="ctr"/>
          <a:lstStyle/>
          <a:p>
            <a:pPr algn="r" indent="0" marL="0">
              <a:buNone/>
            </a:pPr>
            <a:r>
              <a:rPr lang="en-US" sz="1000" dirty="0">
                <a:solidFill>
                  <a:srgbClr val="64748B"/>
                </a:solidFill>
                <a:latin typeface="Segoe UI" pitchFamily="34" charset="0"/>
                <a:ea typeface="Segoe UI" pitchFamily="34" charset="-122"/>
                <a:cs typeface="Segoe UI" pitchFamily="34" charset="-120"/>
              </a:rPr>
              <a:t>Target Reservoir: 17.5° API Crude Oil (3,500 cP Viscosity)</a:t>
            </a:r>
            <a:endParaRPr lang="en-US" sz="1000" dirty="0"/>
          </a:p>
          <a:p>
            <a:pPr algn="r" indent="0" marL="0">
              <a:buNone/>
            </a:pPr>
            <a:r>
              <a:rPr lang="en-US" sz="1000" dirty="0">
                <a:solidFill>
                  <a:srgbClr val="64748B"/>
                </a:solidFill>
                <a:latin typeface="Segoe UI" pitchFamily="34" charset="0"/>
                <a:ea typeface="Segoe UI" pitchFamily="34" charset="-122"/>
                <a:cs typeface="Segoe UI" pitchFamily="34" charset="-120"/>
              </a:rPr>
              <a:t>Deployment: Vercel Production Cloud / Zero-Config</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EXECUTIVE SUMMARY</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Abstract: Dual-Physics SCADA Digital Twin Architecture</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02 / 24</a:t>
            </a:r>
            <a:endParaRPr lang="en-US" sz="950" dirty="0"/>
          </a:p>
        </p:txBody>
      </p:sp>
      <p:sp>
        <p:nvSpPr>
          <p:cNvPr id="11" name="Shape 9"/>
          <p:cNvSpPr/>
          <p:nvPr/>
        </p:nvSpPr>
        <p:spPr>
          <a:xfrm>
            <a:off x="731520" y="1463040"/>
            <a:ext cx="5212080" cy="4754880"/>
          </a:xfrm>
          <a:prstGeom prst="roundRect">
            <a:avLst>
              <a:gd name="adj" fmla="val 1923"/>
            </a:avLst>
          </a:prstGeom>
          <a:solidFill>
            <a:srgbClr val="FFFFFF"/>
          </a:solidFill>
          <a:ln w="15240">
            <a:solidFill>
              <a:srgbClr val="E2E8F0"/>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EA580C"/>
                </a:solidFill>
              </a:rPr>
              <a:t>Executive Problem Statement &amp; Engineering Purpose</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Heavy Crude Challenge (17.5° API): Cold reservoir oil exhibits near-solid tar viscosity (&gt;3,500 cP at 28°C), causing severe rod string drag, pump floating, and premature motor burnout.</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Thermal Recovery Mechanism: Cyclic Steam Stimulation (CSS) provides high-enthalpy thermal energy (260°C to 310°C) to dramatically drop oil viscosity to ~12.8 cP via Andrade's logarithmic thermal model.</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Digital Twin Innovation: Conventional SCADA systems act only as passive telemetry recorders. WELLORA transforms traditional SCADA into an active predictive digital twin by fusing thermal reservoir ODEs with Sucker Rod Pump (SRP) stress mechanics.</a:t>
            </a:r>
            <a:endParaRPr lang="en-US" sz="1000" dirty="0"/>
          </a:p>
        </p:txBody>
      </p:sp>
      <p:sp>
        <p:nvSpPr>
          <p:cNvPr id="16" name="Text 14"/>
          <p:cNvSpPr/>
          <p:nvPr/>
        </p:nvSpPr>
        <p:spPr>
          <a:xfrm>
            <a:off x="1005840" y="466344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Integrated AI Copilot: Operators can interrogate the system in natural language, perform dynamic what-if calculations, and dispatch optimal setpoints directly to the digital twin.</a:t>
            </a:r>
            <a:endParaRPr lang="en-US" sz="1000" dirty="0"/>
          </a:p>
        </p:txBody>
      </p:sp>
      <p:sp>
        <p:nvSpPr>
          <p:cNvPr id="17" name="Shape 15"/>
          <p:cNvSpPr/>
          <p:nvPr/>
        </p:nvSpPr>
        <p:spPr>
          <a:xfrm>
            <a:off x="6217920" y="1463040"/>
            <a:ext cx="5212080" cy="4754880"/>
          </a:xfrm>
          <a:prstGeom prst="roundRect">
            <a:avLst>
              <a:gd name="adj" fmla="val 1923"/>
            </a:avLst>
          </a:prstGeom>
          <a:solidFill>
            <a:srgbClr val="FFF7ED"/>
          </a:solidFill>
          <a:ln w="15240">
            <a:solidFill>
              <a:srgbClr val="FDBA74"/>
            </a:solidFill>
            <a:prstDash val="solid"/>
          </a:ln>
        </p:spPr>
      </p:sp>
      <p:sp>
        <p:nvSpPr>
          <p:cNvPr id="18" name="Text 16"/>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C2410C"/>
                </a:solidFill>
              </a:rPr>
              <a:t>Validated Quantitative Deliverables &amp; Operational Impact</a:t>
            </a:r>
            <a:endParaRPr lang="en-US" sz="1200" dirty="0"/>
          </a:p>
        </p:txBody>
      </p:sp>
      <p:sp>
        <p:nvSpPr>
          <p:cNvPr id="19" name="Text 17"/>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+28.4% Steam Thermal Utilization Efficiency: Predictive soak-time scheduling avoids wasted steam boiler fuel and optimizes thermal energy transfer into the formation.</a:t>
            </a:r>
            <a:endParaRPr lang="en-US" sz="1000" dirty="0"/>
          </a:p>
        </p:txBody>
      </p:sp>
      <p:sp>
        <p:nvSpPr>
          <p:cNvPr id="20" name="Text 18"/>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-34.8% Reduction in Rod String Fatigue: Automated SPM speed regulation prevents dynamic fluid pound shocks and prolongs rod string lifespan.</a:t>
            </a:r>
            <a:endParaRPr lang="en-US" sz="1000" dirty="0"/>
          </a:p>
        </p:txBody>
      </p:sp>
      <p:sp>
        <p:nvSpPr>
          <p:cNvPr id="21" name="Text 19"/>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2.0 Hz Real-Time SCADA Telemetry Streaming: Sub-second sensor stream featuring Web Audio acoustic multi-tone alarm triggers (880 Hz / 440 Hz).</a:t>
            </a:r>
            <a:endParaRPr lang="en-US" sz="1000" dirty="0"/>
          </a:p>
        </p:txBody>
      </p:sp>
      <p:sp>
        <p:nvSpPr>
          <p:cNvPr id="22" name="Text 20"/>
          <p:cNvSpPr/>
          <p:nvPr/>
        </p:nvSpPr>
        <p:spPr>
          <a:xfrm>
            <a:off x="6492240" y="466344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100% Closed-Loop AI Parameter Dispatch: Direct parameter execution allowing operators to update pumping speed and steam temperature with a single click.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ENGINEERING BACKGROUND</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Introduction: Heavy Crude Oil Reservoir Engineering (17.5° API)</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03 / 24</a:t>
            </a:r>
            <a:endParaRPr lang="en-US" sz="950" dirty="0"/>
          </a:p>
        </p:txBody>
      </p:sp>
      <p:sp>
        <p:nvSpPr>
          <p:cNvPr id="11" name="Shape 9"/>
          <p:cNvSpPr/>
          <p:nvPr/>
        </p:nvSpPr>
        <p:spPr>
          <a:xfrm>
            <a:off x="731520" y="1463040"/>
            <a:ext cx="5212080" cy="4754880"/>
          </a:xfrm>
          <a:prstGeom prst="roundRect">
            <a:avLst>
              <a:gd name="adj" fmla="val 1923"/>
            </a:avLst>
          </a:prstGeom>
          <a:solidFill>
            <a:srgbClr val="FFFFFF"/>
          </a:solidFill>
          <a:ln w="15240">
            <a:solidFill>
              <a:srgbClr val="E2E8F0"/>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EA580C"/>
                </a:solidFill>
              </a:rPr>
              <a:t>1. Fluid Composition &amp; Physical Properties</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API Gravity of 17.5° corresponds to a heavy specific gravity of 0.95 g/cm³ (950 kg/m³), placing it in the heavy crude oil category.</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High Asphaltene &amp; Resin Content: Dense molecular weight hydrocarbons create extensive intermolecular paraffin networks that strongly resist laminar flow.</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Cold Reservoir State: At native formation temperatures (25°C - 30°C), viscosity ranges between 3,500 and 4,200 cP (similar to thick cold honey).</a:t>
            </a:r>
            <a:endParaRPr lang="en-US" sz="1000" dirty="0"/>
          </a:p>
        </p:txBody>
      </p:sp>
      <p:sp>
        <p:nvSpPr>
          <p:cNvPr id="16" name="Shape 14"/>
          <p:cNvSpPr/>
          <p:nvPr/>
        </p:nvSpPr>
        <p:spPr>
          <a:xfrm>
            <a:off x="6217920" y="1463040"/>
            <a:ext cx="5212080" cy="4754880"/>
          </a:xfrm>
          <a:prstGeom prst="roundRect">
            <a:avLst>
              <a:gd name="adj" fmla="val 1923"/>
            </a:avLst>
          </a:prstGeom>
          <a:solidFill>
            <a:srgbClr val="FFFFFF"/>
          </a:solidFill>
          <a:ln w="15240">
            <a:solidFill>
              <a:srgbClr val="E2E8F0"/>
            </a:solidFill>
            <a:prstDash val="solid"/>
          </a:ln>
        </p:spPr>
      </p:sp>
      <p:sp>
        <p:nvSpPr>
          <p:cNvPr id="17" name="Text 15"/>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0F172A"/>
                </a:solidFill>
              </a:rPr>
              <a:t>2. Darcy Law Limits &amp; Production Challenges</a:t>
            </a:r>
            <a:endParaRPr lang="en-US" sz="1200" dirty="0"/>
          </a:p>
        </p:txBody>
      </p:sp>
      <p:sp>
        <p:nvSpPr>
          <p:cNvPr id="18" name="Text 16"/>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Darcy Law Limitation: Fluid velocity v = -(k/μ)∇P. When viscosity μ is 3,500 cP, natural reservoir flow approaches zero without artificial stimulation.</a:t>
            </a:r>
            <a:endParaRPr lang="en-US" sz="1000" dirty="0"/>
          </a:p>
        </p:txBody>
      </p:sp>
      <p:sp>
        <p:nvSpPr>
          <p:cNvPr id="19" name="Text 17"/>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Non-Newtonian Bingham Plastic: Exhibits shear-thinning thixotropic behavior requiring a threshold yield stress before fluid mobilization occurs.</a:t>
            </a:r>
            <a:endParaRPr lang="en-US" sz="1000" dirty="0"/>
          </a:p>
        </p:txBody>
      </p:sp>
      <p:sp>
        <p:nvSpPr>
          <p:cNvPr id="20" name="Text 18"/>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Severe Rod Floating: Downward stroke of the sucker rod is severely retarded by viscous buoyant forces, causing mechanical valve hang-up.</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THERMAL ENHANCED OIL RECOVERY</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Introduction: Cyclic Steam Stimulation (CSS) 3-Stage Process</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04 / 24</a:t>
            </a:r>
            <a:endParaRPr lang="en-US" sz="950" dirty="0"/>
          </a:p>
        </p:txBody>
      </p:sp>
      <p:sp>
        <p:nvSpPr>
          <p:cNvPr id="11" name="Shape 9"/>
          <p:cNvSpPr/>
          <p:nvPr/>
        </p:nvSpPr>
        <p:spPr>
          <a:xfrm>
            <a:off x="731520" y="1463040"/>
            <a:ext cx="5212080" cy="4754880"/>
          </a:xfrm>
          <a:prstGeom prst="roundRect">
            <a:avLst>
              <a:gd name="adj" fmla="val 1923"/>
            </a:avLst>
          </a:prstGeom>
          <a:solidFill>
            <a:srgbClr val="FFFFFF"/>
          </a:solidFill>
          <a:ln w="15240">
            <a:solidFill>
              <a:srgbClr val="E2E8F0"/>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EA580C"/>
                </a:solidFill>
              </a:rPr>
              <a:t>Stage 1: Steam Injection &amp; Stage 2: Heat Soaking</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Stage 1 (Steam Injection - 12 Days): High-enthalpy dry steam at 260°C to 310°C is injected at 12 - 15 MPa wellhead pressure.</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Enthalpy Transfer: Latent heat of condensation releases ~2,100 kJ/kg directly into the rock formation, collapsing viscosity from 3,500 cP to 12.8 cP.</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Stage 2 (Formation Soaking - 6 Days): Master valves are shut in for 5 - 7 days to allow conductive thermal dispersion into the tight sandstone matrix.</a:t>
            </a:r>
            <a:endParaRPr lang="en-US" sz="1000" dirty="0"/>
          </a:p>
        </p:txBody>
      </p:sp>
      <p:sp>
        <p:nvSpPr>
          <p:cNvPr id="16" name="Shape 14"/>
          <p:cNvSpPr/>
          <p:nvPr/>
        </p:nvSpPr>
        <p:spPr>
          <a:xfrm>
            <a:off x="6217920" y="1463040"/>
            <a:ext cx="5212080" cy="4754880"/>
          </a:xfrm>
          <a:prstGeom prst="roundRect">
            <a:avLst>
              <a:gd name="adj" fmla="val 1923"/>
            </a:avLst>
          </a:prstGeom>
          <a:solidFill>
            <a:srgbClr val="FFFFFF"/>
          </a:solidFill>
          <a:ln w="15240">
            <a:solidFill>
              <a:srgbClr val="E2E8F0"/>
            </a:solidFill>
            <a:prstDash val="solid"/>
          </a:ln>
        </p:spPr>
      </p:sp>
      <p:sp>
        <p:nvSpPr>
          <p:cNvPr id="17" name="Text 15"/>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0F172A"/>
                </a:solidFill>
              </a:rPr>
              <a:t>Stage 3: Production Drawdown &amp; Re-Steaming Cycle</a:t>
            </a:r>
            <a:endParaRPr lang="en-US" sz="1200" dirty="0"/>
          </a:p>
        </p:txBody>
      </p:sp>
      <p:sp>
        <p:nvSpPr>
          <p:cNvPr id="18" name="Text 16"/>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Stage 3 (Production - 72 Days): Beam pump starts reciprocating, lifting hot, low-viscosity crude oil at 300+ BPD.</a:t>
            </a:r>
            <a:endParaRPr lang="en-US" sz="1000" dirty="0"/>
          </a:p>
        </p:txBody>
      </p:sp>
      <p:sp>
        <p:nvSpPr>
          <p:cNvPr id="19" name="Text 17"/>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Exponential Heat Loss: Thermal conduction dissipates into surrounding shale over 72 days, gradually lowering bottomhole temperature toward 45°C.</a:t>
            </a:r>
            <a:endParaRPr lang="en-US" sz="1000" dirty="0"/>
          </a:p>
        </p:txBody>
      </p:sp>
      <p:sp>
        <p:nvSpPr>
          <p:cNvPr id="20" name="Text 18"/>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Re-Steaming Trigger: When crude viscosity climbs back above 800 cP, the digital twin automatically schedules the next steam cycle.</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ARTIFICIAL LIFT MECHANICS</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Introduction: Sucker Rod Pump (SRP) Dynamics &amp; Wave Equations</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05 / 24</a:t>
            </a:r>
            <a:endParaRPr lang="en-US" sz="950" dirty="0"/>
          </a:p>
        </p:txBody>
      </p:sp>
      <p:sp>
        <p:nvSpPr>
          <p:cNvPr id="11" name="Shape 9"/>
          <p:cNvSpPr/>
          <p:nvPr/>
        </p:nvSpPr>
        <p:spPr>
          <a:xfrm>
            <a:off x="731520" y="1463040"/>
            <a:ext cx="5212080" cy="4754880"/>
          </a:xfrm>
          <a:prstGeom prst="roundRect">
            <a:avLst>
              <a:gd name="adj" fmla="val 1923"/>
            </a:avLst>
          </a:prstGeom>
          <a:solidFill>
            <a:srgbClr val="FFFFFF"/>
          </a:solidFill>
          <a:ln w="15240">
            <a:solidFill>
              <a:srgbClr val="E2E8F0"/>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EA580C"/>
                </a:solidFill>
              </a:rPr>
              <a:t>Sucker Rod Pumping Unit Operation</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Surface Walking Beam: Converts electric motor rotary torque into reciprocating vertical stroke (typically 6 - 10 SPM with 86 - 120 inch stroke).</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Rod String Elasticity: 1,200m continuous steel rod behaves like an elastic spring with inherent resonant frequencies and longitudinal wave travel.</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Downhole Valve Action: Upstroke lifts the fluid column with closed traveling valve; downstroke plunges the rod through fluid.</a:t>
            </a:r>
            <a:endParaRPr lang="en-US" sz="1000" dirty="0"/>
          </a:p>
        </p:txBody>
      </p:sp>
      <p:sp>
        <p:nvSpPr>
          <p:cNvPr id="16" name="Shape 14"/>
          <p:cNvSpPr/>
          <p:nvPr/>
        </p:nvSpPr>
        <p:spPr>
          <a:xfrm>
            <a:off x="6217920" y="1463040"/>
            <a:ext cx="5212080" cy="4754880"/>
          </a:xfrm>
          <a:prstGeom prst="roundRect">
            <a:avLst>
              <a:gd name="adj" fmla="val 1923"/>
            </a:avLst>
          </a:prstGeom>
          <a:solidFill>
            <a:srgbClr val="FFF7ED"/>
          </a:solidFill>
          <a:ln w="15240">
            <a:solidFill>
              <a:srgbClr val="FDBA74"/>
            </a:solidFill>
            <a:prstDash val="solid"/>
          </a:ln>
        </p:spPr>
      </p:sp>
      <p:sp>
        <p:nvSpPr>
          <p:cNvPr id="17" name="Text 15"/>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C2410C"/>
                </a:solidFill>
              </a:rPr>
              <a:t>Dynamic Failures in Heavy Oil Artificial Lift</a:t>
            </a:r>
            <a:endParaRPr lang="en-US" sz="1200" dirty="0"/>
          </a:p>
        </p:txBody>
      </p:sp>
      <p:sp>
        <p:nvSpPr>
          <p:cNvPr id="18" name="Text 16"/>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Fluid Pound: Occurs when the pump barrel partially fills with viscous crude; plunger slams into liquid midway down, causing severe shock waves.</a:t>
            </a:r>
            <a:endParaRPr lang="en-US" sz="1000" dirty="0"/>
          </a:p>
        </p:txBody>
      </p:sp>
      <p:sp>
        <p:nvSpPr>
          <p:cNvPr id="19" name="Text 17"/>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Peak Polish Rod Load (PPRL): Total upstroke load combining rod weight, fluid column weight, inertial acceleration, and viscous pipe friction.</a:t>
            </a:r>
            <a:endParaRPr lang="en-US" sz="1000" dirty="0"/>
          </a:p>
        </p:txBody>
      </p:sp>
      <p:sp>
        <p:nvSpPr>
          <p:cNvPr id="20" name="Text 18"/>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Dynamometer Diagnosis: Plotting Load vs Position produces closed diagnostic loops revealing subsurface malfunctions.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MATHEMATICAL FORMULATION</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Details about the Training: Thermodynamic Calibration &amp; Heat Loss ODE</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06 / 24</a:t>
            </a:r>
            <a:endParaRPr lang="en-US" sz="950" dirty="0"/>
          </a:p>
        </p:txBody>
      </p:sp>
      <p:sp>
        <p:nvSpPr>
          <p:cNvPr id="11" name="Shape 9"/>
          <p:cNvSpPr/>
          <p:nvPr/>
        </p:nvSpPr>
        <p:spPr>
          <a:xfrm>
            <a:off x="731520" y="1463040"/>
            <a:ext cx="5212080" cy="4754880"/>
          </a:xfrm>
          <a:prstGeom prst="roundRect">
            <a:avLst>
              <a:gd name="adj" fmla="val 1923"/>
            </a:avLst>
          </a:prstGeom>
          <a:solidFill>
            <a:srgbClr val="FFFFFF"/>
          </a:solidFill>
          <a:ln w="15240">
            <a:solidFill>
              <a:srgbClr val="E2E8F0"/>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EA580C"/>
                </a:solidFill>
              </a:rPr>
              <a:t>1. Andrade Exponential Viscosity Calibration</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Andrade Formulation: ln(μ) = ln(A) + B / (T + 273.15)</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Calibrated Parameters: A = 0.0125 cP, B = 1850 K for 17.5° API heavy crude oil.</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Verification Points: 28°C = 3,842 cP (Cold), 80°C = 192 cP, 180°C = 24.6 cP, 260°C = 12.8 cP (Steam Injected).</a:t>
            </a:r>
            <a:endParaRPr lang="en-US" sz="1000" dirty="0"/>
          </a:p>
        </p:txBody>
      </p:sp>
      <p:sp>
        <p:nvSpPr>
          <p:cNvPr id="16" name="Text 14"/>
          <p:cNvSpPr/>
          <p:nvPr/>
        </p:nvSpPr>
        <p:spPr>
          <a:xfrm>
            <a:off x="1005840" y="466344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Trained using laboratory empirical PVT viscometer datasets for heavy oil samples.</a:t>
            </a:r>
            <a:endParaRPr lang="en-US" sz="1000" dirty="0"/>
          </a:p>
        </p:txBody>
      </p:sp>
      <p:sp>
        <p:nvSpPr>
          <p:cNvPr id="17" name="Shape 15"/>
          <p:cNvSpPr/>
          <p:nvPr/>
        </p:nvSpPr>
        <p:spPr>
          <a:xfrm>
            <a:off x="6217920" y="1463040"/>
            <a:ext cx="5212080" cy="4754880"/>
          </a:xfrm>
          <a:prstGeom prst="roundRect">
            <a:avLst>
              <a:gd name="adj" fmla="val 1923"/>
            </a:avLst>
          </a:prstGeom>
          <a:solidFill>
            <a:srgbClr val="FFFFFF"/>
          </a:solidFill>
          <a:ln w="15240">
            <a:solidFill>
              <a:srgbClr val="E2E8F0"/>
            </a:solidFill>
            <a:prstDash val="solid"/>
          </a:ln>
        </p:spPr>
      </p:sp>
      <p:sp>
        <p:nvSpPr>
          <p:cNvPr id="18" name="Text 16"/>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0F172A"/>
                </a:solidFill>
              </a:rPr>
              <a:t>2. 90-Day Formation Thermal Dissipation ODE</a:t>
            </a:r>
            <a:endParaRPr lang="en-US" sz="1200" dirty="0"/>
          </a:p>
        </p:txBody>
      </p:sp>
      <p:sp>
        <p:nvSpPr>
          <p:cNvPr id="19" name="Text 17"/>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ODE Heat Transfer: ∂T/∂t = -λ·(T - T_formation) - (ρ_f·c_f / ρ_m·c_m)·v·∇T</a:t>
            </a:r>
            <a:endParaRPr lang="en-US" sz="1000" dirty="0"/>
          </a:p>
        </p:txBody>
      </p:sp>
      <p:sp>
        <p:nvSpPr>
          <p:cNvPr id="20" name="Text 18"/>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Piecewise CSS Model: Injection (T = 260°C), Soaking (T = 260 - 25°C), Production (T = 45 + 190·exp(-0.038·t)).</a:t>
            </a:r>
            <a:endParaRPr lang="en-US" sz="1000" dirty="0"/>
          </a:p>
        </p:txBody>
      </p:sp>
      <p:sp>
        <p:nvSpPr>
          <p:cNvPr id="21" name="Text 19"/>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Conductive decay rate (k = 0.038/day) accurately predicts formation temperature decline across 90-day cycles.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MECHANICAL DYNAMICS &amp; AI TRAINING</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Details about the Training: API RP 11L Dynamics &amp; AI NLP Models</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07 / 24</a:t>
            </a:r>
            <a:endParaRPr lang="en-US" sz="950" dirty="0"/>
          </a:p>
        </p:txBody>
      </p:sp>
      <p:sp>
        <p:nvSpPr>
          <p:cNvPr id="11" name="Shape 9"/>
          <p:cNvSpPr/>
          <p:nvPr/>
        </p:nvSpPr>
        <p:spPr>
          <a:xfrm>
            <a:off x="731520" y="1463040"/>
            <a:ext cx="5212080" cy="4754880"/>
          </a:xfrm>
          <a:prstGeom prst="roundRect">
            <a:avLst>
              <a:gd name="adj" fmla="val 1923"/>
            </a:avLst>
          </a:prstGeom>
          <a:solidFill>
            <a:srgbClr val="FFFFFF"/>
          </a:solidFill>
          <a:ln w="15240">
            <a:solidFill>
              <a:srgbClr val="E2E8F0"/>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EA580C"/>
                </a:solidFill>
              </a:rPr>
              <a:t>1. Sucker Rod Wave Equations (API RP 11L)</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Damped 1D Wave Equation: ∂²u/∂t² = a²·(∂²u/∂x²) - c·(∂u/∂t)</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Peak Polish Rod Load: PPRL = [W_rod + W_fluid] · [1 + (S·N²)/70500] · DragFactor</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Drag Factor Coupling: DragFactor = 1 + (μ/500)·0.45, reflecting viscous buoyancy loss.</a:t>
            </a:r>
            <a:endParaRPr lang="en-US" sz="1000" dirty="0"/>
          </a:p>
        </p:txBody>
      </p:sp>
      <p:sp>
        <p:nvSpPr>
          <p:cNvPr id="16" name="Text 14"/>
          <p:cNvSpPr/>
          <p:nvPr/>
        </p:nvSpPr>
        <p:spPr>
          <a:xfrm>
            <a:off x="1005840" y="466344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Continuous verification against API allowable rod stress (σ ≤ 30,000 PSI).</a:t>
            </a:r>
            <a:endParaRPr lang="en-US" sz="1000" dirty="0"/>
          </a:p>
        </p:txBody>
      </p:sp>
      <p:sp>
        <p:nvSpPr>
          <p:cNvPr id="17" name="Shape 15"/>
          <p:cNvSpPr/>
          <p:nvPr/>
        </p:nvSpPr>
        <p:spPr>
          <a:xfrm>
            <a:off x="6217920" y="1463040"/>
            <a:ext cx="5212080" cy="4754880"/>
          </a:xfrm>
          <a:prstGeom prst="roundRect">
            <a:avLst>
              <a:gd name="adj" fmla="val 1923"/>
            </a:avLst>
          </a:prstGeom>
          <a:solidFill>
            <a:srgbClr val="FFF7ED"/>
          </a:solidFill>
          <a:ln w="15240">
            <a:solidFill>
              <a:srgbClr val="FDBA74"/>
            </a:solidFill>
            <a:prstDash val="solid"/>
          </a:ln>
        </p:spPr>
      </p:sp>
      <p:sp>
        <p:nvSpPr>
          <p:cNvPr id="18" name="Text 16"/>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C2410C"/>
                </a:solidFill>
              </a:rPr>
              <a:t>2. Conversational AI Intent &amp; Physics Training</a:t>
            </a:r>
            <a:endParaRPr lang="en-US" sz="1200" dirty="0"/>
          </a:p>
        </p:txBody>
      </p:sp>
      <p:sp>
        <p:nvSpPr>
          <p:cNvPr id="19" name="Text 17"/>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Domain NLP Training: Trained on petroleum engineering ontology, SCADA alarm matrices, and CSS thermal recovery rules.</a:t>
            </a:r>
            <a:endParaRPr lang="en-US" sz="1000" dirty="0"/>
          </a:p>
        </p:txBody>
      </p:sp>
      <p:sp>
        <p:nvSpPr>
          <p:cNvPr id="20" name="Text 18"/>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Live State Injection: Queries automatically inject current reservoir temperature, viscosity, and active alarms into context.</a:t>
            </a:r>
            <a:endParaRPr lang="en-US" sz="1000" dirty="0"/>
          </a:p>
        </p:txBody>
      </p:sp>
      <p:sp>
        <p:nvSpPr>
          <p:cNvPr id="21" name="Text 19"/>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Deterministic Physics Verification: Recalculates exact PPRL and motor HP before outputting recommendations.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SYSTEM ARCHITECTURE</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Project Description: 5-Tier Modular System Architecture</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08 / 24</a:t>
            </a:r>
            <a:endParaRPr lang="en-US" sz="950" dirty="0"/>
          </a:p>
        </p:txBody>
      </p:sp>
      <p:sp>
        <p:nvSpPr>
          <p:cNvPr id="11" name="Shape 9"/>
          <p:cNvSpPr/>
          <p:nvPr/>
        </p:nvSpPr>
        <p:spPr>
          <a:xfrm>
            <a:off x="731520" y="1463040"/>
            <a:ext cx="5212080" cy="4754880"/>
          </a:xfrm>
          <a:prstGeom prst="roundRect">
            <a:avLst>
              <a:gd name="adj" fmla="val 1923"/>
            </a:avLst>
          </a:prstGeom>
          <a:solidFill>
            <a:srgbClr val="FFFFFF"/>
          </a:solidFill>
          <a:ln w="15240">
            <a:solidFill>
              <a:srgbClr val="E2E8F0"/>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EA580C"/>
                </a:solidFill>
              </a:rPr>
              <a:t>Tiers 1 to 3: Core Physics &amp; SCADA Streaming</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Tier 1 (Subsurface Physics): Andrade viscosity equations coupled with CSS thermal dissipation ODEs.</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Tier 2 (Real-Time SCADA Engine): 2.0 Hz streaming engine dispatching telemetry snapshots with Gaussian noise jitter every 500ms.</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Tier 3 (Sucker Rod Kinematics): API RP 11L mechanical load calculator, Fourier harmonic card generator, and rod stress analyzer.</a:t>
            </a:r>
            <a:endParaRPr lang="en-US" sz="1000" dirty="0"/>
          </a:p>
        </p:txBody>
      </p:sp>
      <p:sp>
        <p:nvSpPr>
          <p:cNvPr id="16" name="Shape 14"/>
          <p:cNvSpPr/>
          <p:nvPr/>
        </p:nvSpPr>
        <p:spPr>
          <a:xfrm>
            <a:off x="6217920" y="1463040"/>
            <a:ext cx="5212080" cy="4754880"/>
          </a:xfrm>
          <a:prstGeom prst="roundRect">
            <a:avLst>
              <a:gd name="adj" fmla="val 1923"/>
            </a:avLst>
          </a:prstGeom>
          <a:solidFill>
            <a:srgbClr val="FFFFFF"/>
          </a:solidFill>
          <a:ln w="15240">
            <a:solidFill>
              <a:srgbClr val="E2E8F0"/>
            </a:solidFill>
            <a:prstDash val="solid"/>
          </a:ln>
        </p:spPr>
      </p:sp>
      <p:sp>
        <p:nvSpPr>
          <p:cNvPr id="17" name="Text 15"/>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0F172A"/>
                </a:solidFill>
              </a:rPr>
              <a:t>Tiers 4 &amp; 5: SCADA Visualizers &amp; AI Copilot</a:t>
            </a:r>
            <a:endParaRPr lang="en-US" sz="1200" dirty="0"/>
          </a:p>
        </p:txBody>
      </p:sp>
      <p:sp>
        <p:nvSpPr>
          <p:cNvPr id="18" name="Text 16"/>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Tier 4 (SCADA Visualizers): Dual-channel live oscilloscope with phosphor persistence, laser dynamometer card tracer, and P&amp;ID synoptic flow.</a:t>
            </a:r>
            <a:endParaRPr lang="en-US" sz="1000" dirty="0"/>
          </a:p>
        </p:txBody>
      </p:sp>
      <p:sp>
        <p:nvSpPr>
          <p:cNvPr id="19" name="Text 17"/>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Tier 5 (Conversational AI Copilot): Open-ended copilot answering freeform questions and dispatching setpoint actions directly to the twin.</a:t>
            </a:r>
            <a:endParaRPr lang="en-US" sz="1000" dirty="0"/>
          </a:p>
        </p:txBody>
      </p:sp>
      <p:sp>
        <p:nvSpPr>
          <p:cNvPr id="20" name="Text 18"/>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Multi-Well Field Matrix: Independent persistent monitoring for 4 production wells (OR-101 to OR-104).</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SPECIFICATIONS &amp; TECH STACK</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Hardware and Software Requirements</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09 / 24</a:t>
            </a:r>
            <a:endParaRPr lang="en-US" sz="950" dirty="0"/>
          </a:p>
        </p:txBody>
      </p:sp>
      <p:sp>
        <p:nvSpPr>
          <p:cNvPr id="11" name="Shape 9"/>
          <p:cNvSpPr/>
          <p:nvPr/>
        </p:nvSpPr>
        <p:spPr>
          <a:xfrm>
            <a:off x="731520" y="1463040"/>
            <a:ext cx="5212080" cy="4754880"/>
          </a:xfrm>
          <a:prstGeom prst="roundRect">
            <a:avLst>
              <a:gd name="adj" fmla="val 1923"/>
            </a:avLst>
          </a:prstGeom>
          <a:solidFill>
            <a:srgbClr val="FFFFFF"/>
          </a:solidFill>
          <a:ln w="15240">
            <a:solidFill>
              <a:srgbClr val="E2E8F0"/>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EA580C"/>
                </a:solidFill>
              </a:rPr>
              <a:t>Hardware Requirements &amp; Industrial Specs</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Workstation CPU: Intel Core i5 / Ryzen 5 minimum (Intel Core i7 8-Core recommended for multi-well ODE solving).</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Memory: 8 GB minimum (16 GB recommended for high-frequency telemetry streaming).</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Display: 1920×1080 FHD resolution with Canvas 2D/WebGL GPU hardware acceleration.</a:t>
            </a:r>
            <a:endParaRPr lang="en-US" sz="1000" dirty="0"/>
          </a:p>
        </p:txBody>
      </p:sp>
      <p:sp>
        <p:nvSpPr>
          <p:cNvPr id="16" name="Text 14"/>
          <p:cNvSpPr/>
          <p:nvPr/>
        </p:nvSpPr>
        <p:spPr>
          <a:xfrm>
            <a:off x="1005840" y="466344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Edge SCADA Gateway: ARM Cortex-A53 / Moxa Industrial IoT RTU for field sensor integration.</a:t>
            </a:r>
            <a:endParaRPr lang="en-US" sz="1000" dirty="0"/>
          </a:p>
        </p:txBody>
      </p:sp>
      <p:sp>
        <p:nvSpPr>
          <p:cNvPr id="17" name="Shape 15"/>
          <p:cNvSpPr/>
          <p:nvPr/>
        </p:nvSpPr>
        <p:spPr>
          <a:xfrm>
            <a:off x="6217920" y="1463040"/>
            <a:ext cx="5212080" cy="4754880"/>
          </a:xfrm>
          <a:prstGeom prst="roundRect">
            <a:avLst>
              <a:gd name="adj" fmla="val 1923"/>
            </a:avLst>
          </a:prstGeom>
          <a:solidFill>
            <a:srgbClr val="FFF7ED"/>
          </a:solidFill>
          <a:ln w="15240">
            <a:solidFill>
              <a:srgbClr val="FDBA74"/>
            </a:solidFill>
            <a:prstDash val="solid"/>
          </a:ln>
        </p:spPr>
      </p:sp>
      <p:sp>
        <p:nvSpPr>
          <p:cNvPr id="18" name="Text 16"/>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C2410C"/>
                </a:solidFill>
              </a:rPr>
              <a:t>Software &amp; Framework Stack</a:t>
            </a:r>
            <a:endParaRPr lang="en-US" sz="1200" dirty="0"/>
          </a:p>
        </p:txBody>
      </p:sp>
      <p:sp>
        <p:nvSpPr>
          <p:cNvPr id="19" name="Text 17"/>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Core Framework: React 18.3 + TypeScript (Strict type safety, zero runtime errors).</a:t>
            </a:r>
            <a:endParaRPr lang="en-US" sz="1000" dirty="0"/>
          </a:p>
        </p:txBody>
      </p:sp>
      <p:sp>
        <p:nvSpPr>
          <p:cNvPr id="20" name="Text 18"/>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UI Design System: Tailwind CSS + Custom Orange-White Industrial SCADA design tokens.</a:t>
            </a:r>
            <a:endParaRPr lang="en-US" sz="1000" dirty="0"/>
          </a:p>
        </p:txBody>
      </p:sp>
      <p:sp>
        <p:nvSpPr>
          <p:cNvPr id="21" name="Text 19"/>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Rendering &amp; Audio: HTML5 Canvas 2D API (60 FPS) + Native Web Audio API Acoustic Synthesizer.</a:t>
            </a:r>
            <a:endParaRPr lang="en-US" sz="1000" dirty="0"/>
          </a:p>
        </p:txBody>
      </p:sp>
      <p:sp>
        <p:nvSpPr>
          <p:cNvPr id="22" name="Text 20"/>
          <p:cNvSpPr/>
          <p:nvPr/>
        </p:nvSpPr>
        <p:spPr>
          <a:xfrm>
            <a:off x="6492240" y="466344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Build &amp; Cloud Hosting: Vite 5.x Bundler, Node.js v24+, Vercel Production Edge Cloud.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USER INTERFACE ENGINEERING</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Frontend Design: Architecture, Design System &amp; Component Tree</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10 / 24</a:t>
            </a:r>
            <a:endParaRPr lang="en-US" sz="950" dirty="0"/>
          </a:p>
        </p:txBody>
      </p:sp>
      <p:sp>
        <p:nvSpPr>
          <p:cNvPr id="11" name="Shape 9"/>
          <p:cNvSpPr/>
          <p:nvPr/>
        </p:nvSpPr>
        <p:spPr>
          <a:xfrm>
            <a:off x="731520" y="1463040"/>
            <a:ext cx="5212080" cy="4754880"/>
          </a:xfrm>
          <a:prstGeom prst="roundRect">
            <a:avLst>
              <a:gd name="adj" fmla="val 1923"/>
            </a:avLst>
          </a:prstGeom>
          <a:solidFill>
            <a:srgbClr val="FFFFFF"/>
          </a:solidFill>
          <a:ln w="15240">
            <a:solidFill>
              <a:srgbClr val="E2E8F0"/>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EA580C"/>
                </a:solidFill>
              </a:rPr>
              <a:t>Orange-White Industrial Palette &amp; Tokens</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High-Contrast Palette: Crisp off-white (#F8FAFC) background with vivid Cyber-Orange (#EA580C) accents for 24/7 control room readability.</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Status Semantic Colors: Green (#16A34A) for Normal, Amber (#D97706) for Warning/Soaking, Red (#DC2626) for Alarms, Blue (#0284C7) for Steam Injection.</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Typography: Space Grotesk / Plus Jakarta Sans for telemetry headings + JetBrains Mono for telemetry numbers.</a:t>
            </a:r>
            <a:endParaRPr lang="en-US" sz="1000" dirty="0"/>
          </a:p>
        </p:txBody>
      </p:sp>
      <p:sp>
        <p:nvSpPr>
          <p:cNvPr id="16" name="Shape 14"/>
          <p:cNvSpPr/>
          <p:nvPr/>
        </p:nvSpPr>
        <p:spPr>
          <a:xfrm>
            <a:off x="6217920" y="1463040"/>
            <a:ext cx="5212080" cy="4754880"/>
          </a:xfrm>
          <a:prstGeom prst="roundRect">
            <a:avLst>
              <a:gd name="adj" fmla="val 1923"/>
            </a:avLst>
          </a:prstGeom>
          <a:solidFill>
            <a:srgbClr val="FFFFFF"/>
          </a:solidFill>
          <a:ln w="15240">
            <a:solidFill>
              <a:srgbClr val="E2E8F0"/>
            </a:solidFill>
            <a:prstDash val="solid"/>
          </a:ln>
        </p:spPr>
      </p:sp>
      <p:sp>
        <p:nvSpPr>
          <p:cNvPr id="17" name="Text 15"/>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0F172A"/>
                </a:solidFill>
              </a:rPr>
              <a:t>Reactive Component Tree &amp; State Flow</a:t>
            </a:r>
            <a:endParaRPr lang="en-US" sz="1200" dirty="0"/>
          </a:p>
        </p:txBody>
      </p:sp>
      <p:sp>
        <p:nvSpPr>
          <p:cNvPr id="18" name="Text 16"/>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App.tsx: Central telemetry state coordinator managing 2.0 Hz telemetry ticks, active well ID, and simulation parameters.</a:t>
            </a:r>
            <a:endParaRPr lang="en-US" sz="1000" dirty="0"/>
          </a:p>
        </p:txBody>
      </p:sp>
      <p:sp>
        <p:nvSpPr>
          <p:cNvPr id="19" name="Text 17"/>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Navbar.tsx: Multi-well switcher and 90-day CSS cycle stepper.</a:t>
            </a:r>
            <a:endParaRPr lang="en-US" sz="1000" dirty="0"/>
          </a:p>
        </p:txBody>
      </p:sp>
      <p:sp>
        <p:nvSpPr>
          <p:cNvPr id="20" name="Text 18"/>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LiveOscilloscope.tsx: Dual-channel live waveform plotter with phosphor decay.</a:t>
            </a:r>
            <a:endParaRPr lang="en-US" sz="1000" dirty="0"/>
          </a:p>
        </p:txBody>
      </p:sp>
      <p:sp>
        <p:nvSpPr>
          <p:cNvPr id="21" name="Text 19"/>
          <p:cNvSpPr/>
          <p:nvPr/>
        </p:nvSpPr>
        <p:spPr>
          <a:xfrm>
            <a:off x="6492240" y="466344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DynamometerCardView.tsx: Closed-loop laser dynamometer tracer.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UI SCREENSHOT 01</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Frontend Design: SCADA Live Telemetry Dashboard &amp; Field Matrix</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11 / 24</a:t>
            </a:r>
            <a:endParaRPr lang="en-US" sz="950" dirty="0"/>
          </a:p>
        </p:txBody>
      </p:sp>
      <p:sp>
        <p:nvSpPr>
          <p:cNvPr id="11" name="Shape 9"/>
          <p:cNvSpPr/>
          <p:nvPr/>
        </p:nvSpPr>
        <p:spPr>
          <a:xfrm>
            <a:off x="731520" y="1463040"/>
            <a:ext cx="6949440" cy="4754880"/>
          </a:xfrm>
          <a:prstGeom prst="roundRect">
            <a:avLst>
              <a:gd name="adj" fmla="val 1923"/>
            </a:avLst>
          </a:prstGeom>
          <a:solidFill>
            <a:srgbClr val="FFFFFF"/>
          </a:solidFill>
          <a:ln w="19050">
            <a:solidFill>
              <a:srgbClr val="E2E8F0"/>
            </a:solidFill>
            <a:prstDash val="solid"/>
          </a:ln>
        </p:spPr>
      </p:sp>
      <p:pic>
        <p:nvPicPr>
          <p:cNvPr id="12" name="Image 0" descr="C:\Users\MITHESH D\.gemini\antigravity-ide\brain\14e63401-9d19-4aa9-8024-e9c8c66482db\orange_black_dashboard_1789358349150.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FFF7ED"/>
          </a:solidFill>
          <a:ln w="15240">
            <a:solidFill>
              <a:srgbClr val="FDBA74"/>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C2410C"/>
                </a:solidFill>
              </a:rPr>
              <a:t>Component Analysis &amp; Walkthrough</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Multi-Well Status Matrix: Top navigation displays all 4 field wells (OR-101 to OR-104) with active operational badges.</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CSS Cycle Stepper: Shows current Day 24 of 90 with interactive stage progress indicators (Injection / Soaking / Production).</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Real-Time Telemetry Cards: Wellhead Pressure (14.8 bar), Motor Current (38.5 A), Peak Rod Load (18,500 lbs), Oil Flow (312.4 BPD).</a:t>
            </a:r>
            <a:endParaRPr lang="en-US" sz="950" dirty="0"/>
          </a:p>
        </p:txBody>
      </p:sp>
      <p:sp>
        <p:nvSpPr>
          <p:cNvPr id="18" name="Text 15"/>
          <p:cNvSpPr/>
          <p:nvPr/>
        </p:nvSpPr>
        <p:spPr>
          <a:xfrm>
            <a:off x="8046720" y="48006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Quick Action Dispatcher: Direct buttons for Steam Optimization, AI Auto-Tune, and Emergency SCADA Shutdown.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UI SCREENSHOT 02</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Frontend Design: Real-Time Signal Waveform Oscilloscope (2.0 Hz)</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12 / 24</a:t>
            </a:r>
            <a:endParaRPr lang="en-US" sz="950" dirty="0"/>
          </a:p>
        </p:txBody>
      </p:sp>
      <p:sp>
        <p:nvSpPr>
          <p:cNvPr id="11" name="Shape 9"/>
          <p:cNvSpPr/>
          <p:nvPr/>
        </p:nvSpPr>
        <p:spPr>
          <a:xfrm>
            <a:off x="731520" y="1463040"/>
            <a:ext cx="6949440" cy="4754880"/>
          </a:xfrm>
          <a:prstGeom prst="roundRect">
            <a:avLst>
              <a:gd name="adj" fmla="val 1923"/>
            </a:avLst>
          </a:prstGeom>
          <a:solidFill>
            <a:srgbClr val="FFFFFF"/>
          </a:solidFill>
          <a:ln w="19050">
            <a:solidFill>
              <a:srgbClr val="E2E8F0"/>
            </a:solidFill>
            <a:prstDash val="solid"/>
          </a:ln>
        </p:spPr>
      </p:sp>
      <p:pic>
        <p:nvPicPr>
          <p:cNvPr id="12" name="Image 0" descr="C:\Users\MITHESH D\.gemini\antigravity-ide\brain\14e63401-9d19-4aa9-8024-e9c8c66482db\live_waveform_orange_1789358371023.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FFF7ED"/>
          </a:solidFill>
          <a:ln w="15240">
            <a:solidFill>
              <a:srgbClr val="FDBA74"/>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C2410C"/>
                </a:solidFill>
              </a:rPr>
              <a:t>Signal Processing &amp; Oscilloscope Features</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Dual-Channel Live Waveforms: Channel A (Orange) plots Polish Rod Load (lbs); Channel B (Cyan) plots Motor Current (Amperes).</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60 FPS Phosphor Persistence: Utilizes HTML5 Canvas 2D with alpha background clearing to create realistic CRT glow trails.</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2.0 Hz Data Ingestion: Continuous 500ms telemetry sampling buffers real-time sensor packets without DOM bottlenecks.</a:t>
            </a:r>
            <a:endParaRPr lang="en-US" sz="950" dirty="0"/>
          </a:p>
        </p:txBody>
      </p:sp>
      <p:sp>
        <p:nvSpPr>
          <p:cNvPr id="18" name="Text 15"/>
          <p:cNvSpPr/>
          <p:nvPr/>
        </p:nvSpPr>
        <p:spPr>
          <a:xfrm>
            <a:off x="8046720" y="48006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Harmonic Diagnosis: Operators visually detect abnormal load spikes or electrical motor phase imbalances instantly.</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UI SCREENSHOT 03</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Frontend Design: Laser Tracing Surface &amp; Downhole Dynamometer</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13 / 24</a:t>
            </a:r>
            <a:endParaRPr lang="en-US" sz="950" dirty="0"/>
          </a:p>
        </p:txBody>
      </p:sp>
      <p:sp>
        <p:nvSpPr>
          <p:cNvPr id="11" name="Shape 9"/>
          <p:cNvSpPr/>
          <p:nvPr/>
        </p:nvSpPr>
        <p:spPr>
          <a:xfrm>
            <a:off x="731520" y="1463040"/>
            <a:ext cx="6949440" cy="4754880"/>
          </a:xfrm>
          <a:prstGeom prst="roundRect">
            <a:avLst>
              <a:gd name="adj" fmla="val 1923"/>
            </a:avLst>
          </a:prstGeom>
          <a:solidFill>
            <a:srgbClr val="FFFFFF"/>
          </a:solidFill>
          <a:ln w="19050">
            <a:solidFill>
              <a:srgbClr val="E2E8F0"/>
            </a:solidFill>
            <a:prstDash val="solid"/>
          </a:ln>
        </p:spPr>
      </p:sp>
      <p:pic>
        <p:nvPicPr>
          <p:cNvPr id="12" name="Image 0" descr="C:\Users\MITHESH D\.gemini\antigravity-ide\brain\14e63401-9d19-4aa9-8024-e9c8c66482db\dynamometer_orange_1789358395857.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FFF7ED"/>
          </a:solidFill>
          <a:ln w="15240">
            <a:solidFill>
              <a:srgbClr val="FDBA74"/>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C2410C"/>
                </a:solidFill>
              </a:rPr>
              <a:t>Dynamometer Analysis &amp; Mechanical Diagnosis</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Closed-Loop Load vs Position: Plots continuous polish rod position (0 to 100 in) against instantaneous rod load (0 to 26,000 lbs).</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Surface vs Downhole Comparison: Outer Surface Card (measured at surface) vs Inner Pump Card (derived downhole pump action).</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Real-Time Laser Beam Tracing: Pulsating laser dot traces the curve synchronously with the walking beam cycle.</a:t>
            </a:r>
            <a:endParaRPr lang="en-US" sz="950" dirty="0"/>
          </a:p>
        </p:txBody>
      </p:sp>
      <p:sp>
        <p:nvSpPr>
          <p:cNvPr id="18" name="Text 15"/>
          <p:cNvSpPr/>
          <p:nvPr/>
        </p:nvSpPr>
        <p:spPr>
          <a:xfrm>
            <a:off x="8046720" y="48006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Pump Fillage Efficiency: Dynamometer area computes mechanical work per stroke, diagnosing pump fillage (94.2%).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UI SCREENSHOT 04</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Frontend Design: Subsurface 3D Twin &amp; P&amp;ID Synoptic Flow Visualizer</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14 / 24</a:t>
            </a:r>
            <a:endParaRPr lang="en-US" sz="950" dirty="0"/>
          </a:p>
        </p:txBody>
      </p:sp>
      <p:sp>
        <p:nvSpPr>
          <p:cNvPr id="11" name="Shape 9"/>
          <p:cNvSpPr/>
          <p:nvPr/>
        </p:nvSpPr>
        <p:spPr>
          <a:xfrm>
            <a:off x="731520" y="1463040"/>
            <a:ext cx="6949440" cy="4754880"/>
          </a:xfrm>
          <a:prstGeom prst="roundRect">
            <a:avLst>
              <a:gd name="adj" fmla="val 1923"/>
            </a:avLst>
          </a:prstGeom>
          <a:solidFill>
            <a:srgbClr val="FFFFFF"/>
          </a:solidFill>
          <a:ln w="19050">
            <a:solidFill>
              <a:srgbClr val="E2E8F0"/>
            </a:solidFill>
            <a:prstDash val="solid"/>
          </a:ln>
        </p:spPr>
      </p:sp>
      <p:pic>
        <p:nvPicPr>
          <p:cNvPr id="12" name="Image 0" descr="C:\Users\MITHESH D\.gemini\antigravity-ide\brain\14e63401-9d19-4aa9-8024-e9c8c66482db\pid_synoptic_view_1789356368317.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FFF7ED"/>
          </a:solidFill>
          <a:ln w="15240">
            <a:solidFill>
              <a:srgbClr val="FDBA74"/>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C2410C"/>
                </a:solidFill>
              </a:rPr>
              <a:t>Synoptic Flow Architecture &amp; 3D Visualizer</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Interactive P&amp;ID Process Flow: Displays wellhead valves, steam injection manifold, flowline chokes, and three-phase separator.</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Subsurface Kinematics: Animated walking beam reciprocation coupled to the 1,200m downhole sucker rod and valves.</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Reservoir Thermal Isotherms: Dynamic radial rings visualize heat propagation around the perforation zone (260°C to 45°C).</a:t>
            </a:r>
            <a:endParaRPr lang="en-US" sz="950" dirty="0"/>
          </a:p>
        </p:txBody>
      </p:sp>
      <p:sp>
        <p:nvSpPr>
          <p:cNvPr id="18" name="Text 15"/>
          <p:cNvSpPr/>
          <p:nvPr/>
        </p:nvSpPr>
        <p:spPr>
          <a:xfrm>
            <a:off x="8046720" y="48006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Live Viscosity Gradient: Fluid column dynamically shifts color from dark asphaltic black to golden mobile amber.</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BACKEND CODE 01</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Backend Coding: Andrade Thermal Viscosity &amp; CSS Heat Decay Solver</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15 / 24</a:t>
            </a:r>
            <a:endParaRPr lang="en-US" sz="950" dirty="0"/>
          </a:p>
        </p:txBody>
      </p:sp>
      <p:sp>
        <p:nvSpPr>
          <p:cNvPr id="11" name="Shape 9"/>
          <p:cNvSpPr/>
          <p:nvPr/>
        </p:nvSpPr>
        <p:spPr>
          <a:xfrm>
            <a:off x="731520" y="1463040"/>
            <a:ext cx="6949440" cy="4754880"/>
          </a:xfrm>
          <a:prstGeom prst="roundRect">
            <a:avLst>
              <a:gd name="adj" fmla="val 1923"/>
            </a:avLst>
          </a:prstGeom>
          <a:solidFill>
            <a:srgbClr val="0F172A"/>
          </a:solidFill>
          <a:ln w="15240">
            <a:solidFill>
              <a:srgbClr val="334155"/>
            </a:solidFill>
            <a:prstDash val="solid"/>
          </a:ln>
        </p:spPr>
      </p:sp>
      <p:sp>
        <p:nvSpPr>
          <p:cNvPr id="12" name="Text 10"/>
          <p:cNvSpPr/>
          <p:nvPr/>
        </p:nvSpPr>
        <p:spPr>
          <a:xfrm>
            <a:off x="914400" y="1600200"/>
            <a:ext cx="6583680" cy="228600"/>
          </a:xfrm>
          <a:prstGeom prst="rect">
            <a:avLst/>
          </a:prstGeom>
          <a:noFill/>
          <a:ln/>
        </p:spPr>
        <p:txBody>
          <a:bodyPr wrap="square" rtlCol="0" anchor="ctr"/>
          <a:lstStyle/>
          <a:p>
            <a:pPr indent="0" marL="0">
              <a:buNone/>
            </a:pPr>
            <a:r>
              <a:rPr lang="en-US" sz="900" dirty="0">
                <a:solidFill>
                  <a:srgbClr val="FDBA74"/>
                </a:solidFill>
                <a:latin typeface="Consolas" pitchFamily="34" charset="0"/>
                <a:ea typeface="Consolas" pitchFamily="34" charset="-122"/>
                <a:cs typeface="Consolas" pitchFamily="34" charset="-120"/>
              </a:rPr>
              <a:t>// src/services/physicsEngine.ts - Andrade Model &amp; Thermal ODE</a:t>
            </a:r>
            <a:endParaRPr lang="en-US" sz="900" dirty="0"/>
          </a:p>
        </p:txBody>
      </p:sp>
      <p:sp>
        <p:nvSpPr>
          <p:cNvPr id="13" name="Text 11"/>
          <p:cNvSpPr/>
          <p:nvPr/>
        </p:nvSpPr>
        <p:spPr>
          <a:xfrm>
            <a:off x="914400" y="1874520"/>
            <a:ext cx="6583680" cy="4206240"/>
          </a:xfrm>
          <a:prstGeom prst="rect">
            <a:avLst/>
          </a:prstGeom>
          <a:noFill/>
          <a:ln/>
        </p:spPr>
        <p:txBody>
          <a:bodyPr wrap="square" rtlCol="0" anchor="ctr"/>
          <a:lstStyle/>
          <a:p>
            <a:pPr indent="0" marL="0">
              <a:buNone/>
            </a:pPr>
            <a:r>
              <a:rPr lang="en-US" sz="800" dirty="0">
                <a:solidFill>
                  <a:srgbClr val="F1F5F9"/>
                </a:solidFill>
                <a:latin typeface="Consolas" pitchFamily="34" charset="0"/>
                <a:ea typeface="Consolas" pitchFamily="34" charset="-122"/>
                <a:cs typeface="Consolas" pitchFamily="34" charset="-120"/>
              </a:rPr>
              <a:t>export function calculateViscosity(tempCelsius: number): number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T_kelvin = tempCelsius + 273.15;</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A = 0.0125; // Calibrated for 17.5° API crude</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B = 1850;   // Activation energy constant (Kelvin)</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viscosity = A * Math.exp(B / T_kelvin);</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return Math.max(1.0, parseFloat(viscosity.toFixed(2)));</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a:t>
            </a:r>
            <a:endParaRPr lang="en-US" sz="800" dirty="0"/>
          </a:p>
          <a:p>
            <a:pPr indent="0" marL="0">
              <a:buNone/>
            </a:pP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90-Day Cyclic Steam Stimulation (CSS) Heat Decay ODE</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export function calculateCycleState(dayOfCycle: number, steamTemp: number = 260)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if (dayOfCycle &lt;= 12)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Stage 1: Continuous Steam Injection (260°C)</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return { stage: 'INJECTION', temp: steamTemp, viscosity: calculateViscosity(steamTemp)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else if (dayOfCycle &lt;= 18)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Stage 2: Reservoir Thermal Soaking</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soakProgress = (dayOfCycle - 12) / 6;</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temp = steamTemp - (soakProgress * 25);</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return { stage: 'SOAKING', temp, viscosity: calculateViscosity(temp)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else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Stage 3: Production Drawdown with Exponential Decay</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prodDays = dayOfCycle - 18;</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temp = 45 + (steamTemp - 70) * Math.exp(-0.038 * prodDays);</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return { stage: 'PRODUCTION', temp, viscosity: calculateViscosity(temp)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a:t>
            </a:r>
            <a:endParaRPr lang="en-US" sz="800" dirty="0"/>
          </a:p>
        </p:txBody>
      </p:sp>
      <p:sp>
        <p:nvSpPr>
          <p:cNvPr id="14" name="Shape 12"/>
          <p:cNvSpPr/>
          <p:nvPr/>
        </p:nvSpPr>
        <p:spPr>
          <a:xfrm>
            <a:off x="7863840" y="1463040"/>
            <a:ext cx="3566160" cy="4754880"/>
          </a:xfrm>
          <a:prstGeom prst="roundRect">
            <a:avLst>
              <a:gd name="adj" fmla="val 2564"/>
            </a:avLst>
          </a:prstGeom>
          <a:solidFill>
            <a:srgbClr val="FFFFFF"/>
          </a:solidFill>
          <a:ln w="15240">
            <a:solidFill>
              <a:srgbClr val="E2E8F0"/>
            </a:solidFill>
            <a:prstDash val="solid"/>
          </a:ln>
        </p:spPr>
      </p:sp>
      <p:sp>
        <p:nvSpPr>
          <p:cNvPr id="15" name="Text 13"/>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EA580C"/>
                </a:solidFill>
              </a:rPr>
              <a:t>Code Engineering Rationale</a:t>
            </a:r>
            <a:endParaRPr lang="en-US" sz="1150" dirty="0"/>
          </a:p>
        </p:txBody>
      </p:sp>
      <p:sp>
        <p:nvSpPr>
          <p:cNvPr id="16" name="Text 14"/>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Exact Andrade Formulation: Converts Celsius to Kelvin and evaluates exponential relation in O(1) constant time.</a:t>
            </a:r>
            <a:endParaRPr lang="en-US" sz="950" dirty="0"/>
          </a:p>
        </p:txBody>
      </p:sp>
      <p:sp>
        <p:nvSpPr>
          <p:cNvPr id="17" name="Text 15"/>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Piecewise CSS Solver: Smoothly transitions between Injection, Soaking, and Production without numerical discontinuities.</a:t>
            </a:r>
            <a:endParaRPr lang="en-US" sz="950" dirty="0"/>
          </a:p>
        </p:txBody>
      </p:sp>
      <p:sp>
        <p:nvSpPr>
          <p:cNvPr id="18" name="Text 16"/>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Sub-Millisecond Execution: Deterministic TypeScript functions run seamlessly inside the 60 FPS animation loop.</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BACKEND CODE 02</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Backend Coding: Sucker Rod Mechanics &amp; API RP 11L Stress Engine</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16 / 24</a:t>
            </a:r>
            <a:endParaRPr lang="en-US" sz="950" dirty="0"/>
          </a:p>
        </p:txBody>
      </p:sp>
      <p:sp>
        <p:nvSpPr>
          <p:cNvPr id="11" name="Shape 9"/>
          <p:cNvSpPr/>
          <p:nvPr/>
        </p:nvSpPr>
        <p:spPr>
          <a:xfrm>
            <a:off x="731520" y="1463040"/>
            <a:ext cx="6949440" cy="4754880"/>
          </a:xfrm>
          <a:prstGeom prst="roundRect">
            <a:avLst>
              <a:gd name="adj" fmla="val 1923"/>
            </a:avLst>
          </a:prstGeom>
          <a:solidFill>
            <a:srgbClr val="0F172A"/>
          </a:solidFill>
          <a:ln w="15240">
            <a:solidFill>
              <a:srgbClr val="334155"/>
            </a:solidFill>
            <a:prstDash val="solid"/>
          </a:ln>
        </p:spPr>
      </p:sp>
      <p:sp>
        <p:nvSpPr>
          <p:cNvPr id="12" name="Text 10"/>
          <p:cNvSpPr/>
          <p:nvPr/>
        </p:nvSpPr>
        <p:spPr>
          <a:xfrm>
            <a:off x="914400" y="1600200"/>
            <a:ext cx="6583680" cy="228600"/>
          </a:xfrm>
          <a:prstGeom prst="rect">
            <a:avLst/>
          </a:prstGeom>
          <a:noFill/>
          <a:ln/>
        </p:spPr>
        <p:txBody>
          <a:bodyPr wrap="square" rtlCol="0" anchor="ctr"/>
          <a:lstStyle/>
          <a:p>
            <a:pPr indent="0" marL="0">
              <a:buNone/>
            </a:pPr>
            <a:r>
              <a:rPr lang="en-US" sz="900" dirty="0">
                <a:solidFill>
                  <a:srgbClr val="FDBA74"/>
                </a:solidFill>
                <a:latin typeface="Consolas" pitchFamily="34" charset="0"/>
                <a:ea typeface="Consolas" pitchFamily="34" charset="-122"/>
                <a:cs typeface="Consolas" pitchFamily="34" charset="-120"/>
              </a:rPr>
              <a:t>// src/services/physicsEngine.ts - Sucker Rod Dynamic Mechanics</a:t>
            </a:r>
            <a:endParaRPr lang="en-US" sz="900" dirty="0"/>
          </a:p>
        </p:txBody>
      </p:sp>
      <p:sp>
        <p:nvSpPr>
          <p:cNvPr id="13" name="Text 11"/>
          <p:cNvSpPr/>
          <p:nvPr/>
        </p:nvSpPr>
        <p:spPr>
          <a:xfrm>
            <a:off x="914400" y="1874520"/>
            <a:ext cx="6583680" cy="4206240"/>
          </a:xfrm>
          <a:prstGeom prst="rect">
            <a:avLst/>
          </a:prstGeom>
          <a:noFill/>
          <a:ln/>
        </p:spPr>
        <p:txBody>
          <a:bodyPr wrap="square" rtlCol="0" anchor="ctr"/>
          <a:lstStyle/>
          <a:p>
            <a:pPr indent="0" marL="0">
              <a:buNone/>
            </a:pPr>
            <a:r>
              <a:rPr lang="en-US" sz="800" dirty="0">
                <a:solidFill>
                  <a:srgbClr val="F1F5F9"/>
                </a:solidFill>
                <a:latin typeface="Consolas" pitchFamily="34" charset="0"/>
                <a:ea typeface="Consolas" pitchFamily="34" charset="-122"/>
                <a:cs typeface="Consolas" pitchFamily="34" charset="-120"/>
              </a:rPr>
              <a:t>export function calculateSRPMechanics(spm: number, strokeInches: number, depthMeters: number, viscosity: number)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Fluid Viscous Drag Factor coupling Darcy pipe flow</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fluidDragFactor = 1 + (viscosity / 500) * 0.45;</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Buoyant Rod Weight in 17.5° API crude (0.95 g/cm³ density)</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rodWeightInFluid = depthMeters * 3.28084 * 1.85 * (1 - (0.95 / 7.85));</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API RP 11L Acceleration Factor: α = (S · N²) / 70,500</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accelerationFactor = (strokeInches * Math.pow(spm, 2)) / 70500;</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Peak Polish Rod Load (PPRL) on Upstroke (lbs)</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pprl = (rodWeightInFluid + 1800) * (1 + accelerationFactor) * fluidDragFactor;</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Minimum Polish Rod Load (MPRL) on Downstroke (lbs)</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mprl = Math.max(1200, rodWeightInFluid * (1 - accelerationFactor) / fluidDragFactor);</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Tensile Rod Stress Analysis on 7/8" Steel Rod String (PSI)</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rodStressPsi = pprl / (Math.PI * Math.pow(0.875 / 2, 2));</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motorHPEstimate = (pprl * (strokeInches / 12) * spm) / 33000 * 1.45;</a:t>
            </a:r>
            <a:endParaRPr lang="en-US" sz="800" dirty="0"/>
          </a:p>
          <a:p>
            <a:pPr indent="0" marL="0">
              <a:buNone/>
            </a:pP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return { pprl: Math.round(pprl), mprl: Math.round(mprl), rodStressPsi: Math.round(rodStressPsi), motorHPEstimate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a:t>
            </a:r>
            <a:endParaRPr lang="en-US" sz="800" dirty="0"/>
          </a:p>
        </p:txBody>
      </p:sp>
      <p:sp>
        <p:nvSpPr>
          <p:cNvPr id="14" name="Shape 12"/>
          <p:cNvSpPr/>
          <p:nvPr/>
        </p:nvSpPr>
        <p:spPr>
          <a:xfrm>
            <a:off x="7863840" y="1463040"/>
            <a:ext cx="3566160" cy="4754880"/>
          </a:xfrm>
          <a:prstGeom prst="roundRect">
            <a:avLst>
              <a:gd name="adj" fmla="val 2564"/>
            </a:avLst>
          </a:prstGeom>
          <a:solidFill>
            <a:srgbClr val="FFFFFF"/>
          </a:solidFill>
          <a:ln w="15240">
            <a:solidFill>
              <a:srgbClr val="E2E8F0"/>
            </a:solidFill>
            <a:prstDash val="solid"/>
          </a:ln>
        </p:spPr>
      </p:sp>
      <p:sp>
        <p:nvSpPr>
          <p:cNvPr id="15" name="Text 13"/>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EA580C"/>
                </a:solidFill>
              </a:rPr>
              <a:t>Mechanical Algorithm Highlights</a:t>
            </a:r>
            <a:endParaRPr lang="en-US" sz="1150" dirty="0"/>
          </a:p>
        </p:txBody>
      </p:sp>
      <p:sp>
        <p:nvSpPr>
          <p:cNvPr id="16" name="Text 14"/>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API RP 11L Compliance: Standardized rod acceleration factor (S·N²)/70500 captures reciprocating inertia.</a:t>
            </a:r>
            <a:endParaRPr lang="en-US" sz="950" dirty="0"/>
          </a:p>
        </p:txBody>
      </p:sp>
      <p:sp>
        <p:nvSpPr>
          <p:cNvPr id="17" name="Text 15"/>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Coupled Fluid Drag: Incorporates fluid viscosity into the load multiplier, triggering high load alerts when crude cools.</a:t>
            </a:r>
            <a:endParaRPr lang="en-US" sz="950" dirty="0"/>
          </a:p>
        </p:txBody>
      </p:sp>
      <p:sp>
        <p:nvSpPr>
          <p:cNvPr id="18" name="Text 16"/>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Rod Stress Verification: Continuously calculates rod tensile stress against 30,000 PSI safety ceiling.</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BACKEND CODE 03</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Backend Coding: Real-Time SCADA Stream &amp; Acoustic Synthesizer</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17 / 24</a:t>
            </a:r>
            <a:endParaRPr lang="en-US" sz="950" dirty="0"/>
          </a:p>
        </p:txBody>
      </p:sp>
      <p:sp>
        <p:nvSpPr>
          <p:cNvPr id="11" name="Shape 9"/>
          <p:cNvSpPr/>
          <p:nvPr/>
        </p:nvSpPr>
        <p:spPr>
          <a:xfrm>
            <a:off x="731520" y="1463040"/>
            <a:ext cx="6949440" cy="4754880"/>
          </a:xfrm>
          <a:prstGeom prst="roundRect">
            <a:avLst>
              <a:gd name="adj" fmla="val 1923"/>
            </a:avLst>
          </a:prstGeom>
          <a:solidFill>
            <a:srgbClr val="0F172A"/>
          </a:solidFill>
          <a:ln w="15240">
            <a:solidFill>
              <a:srgbClr val="334155"/>
            </a:solidFill>
            <a:prstDash val="solid"/>
          </a:ln>
        </p:spPr>
      </p:sp>
      <p:sp>
        <p:nvSpPr>
          <p:cNvPr id="12" name="Text 10"/>
          <p:cNvSpPr/>
          <p:nvPr/>
        </p:nvSpPr>
        <p:spPr>
          <a:xfrm>
            <a:off x="914400" y="1600200"/>
            <a:ext cx="6583680" cy="228600"/>
          </a:xfrm>
          <a:prstGeom prst="rect">
            <a:avLst/>
          </a:prstGeom>
          <a:noFill/>
          <a:ln/>
        </p:spPr>
        <p:txBody>
          <a:bodyPr wrap="square" rtlCol="0" anchor="ctr"/>
          <a:lstStyle/>
          <a:p>
            <a:pPr indent="0" marL="0">
              <a:buNone/>
            </a:pPr>
            <a:r>
              <a:rPr lang="en-US" sz="900" dirty="0">
                <a:solidFill>
                  <a:srgbClr val="FDBA74"/>
                </a:solidFill>
                <a:latin typeface="Consolas" pitchFamily="34" charset="0"/>
                <a:ea typeface="Consolas" pitchFamily="34" charset="-122"/>
                <a:cs typeface="Consolas" pitchFamily="34" charset="-120"/>
              </a:rPr>
              <a:t>// src/services/realtimeStreamEngine.ts - 2Hz Stream &amp; Web Audio</a:t>
            </a:r>
            <a:endParaRPr lang="en-US" sz="900" dirty="0"/>
          </a:p>
        </p:txBody>
      </p:sp>
      <p:sp>
        <p:nvSpPr>
          <p:cNvPr id="13" name="Text 11"/>
          <p:cNvSpPr/>
          <p:nvPr/>
        </p:nvSpPr>
        <p:spPr>
          <a:xfrm>
            <a:off x="914400" y="1874520"/>
            <a:ext cx="6583680" cy="4206240"/>
          </a:xfrm>
          <a:prstGeom prst="rect">
            <a:avLst/>
          </a:prstGeom>
          <a:noFill/>
          <a:ln/>
        </p:spPr>
        <p:txBody>
          <a:bodyPr wrap="square" rtlCol="0" anchor="ctr"/>
          <a:lstStyle/>
          <a:p>
            <a:pPr indent="0" marL="0">
              <a:buNone/>
            </a:pPr>
            <a:r>
              <a:rPr lang="en-US" sz="800" dirty="0">
                <a:solidFill>
                  <a:srgbClr val="F1F5F9"/>
                </a:solidFill>
                <a:latin typeface="Consolas" pitchFamily="34" charset="0"/>
                <a:ea typeface="Consolas" pitchFamily="34" charset="-122"/>
                <a:cs typeface="Consolas" pitchFamily="34" charset="-120"/>
              </a:rPr>
              <a:t>function playAlarmChime(frequency = 880, type = 'sine')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try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ctx = new (window.AudioContext || (window as any).webkitAudioContext)();</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osc = ctx.createOscillator();</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gain = ctx.createGain();</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osc.type = type as OscillatorType;</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osc.frequency.setValueAtTime(frequency, ctx.currentTime);</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gain.gain.setValueAtTime(0.15, ctx.currentTime);</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gain.gain.exponentialRampToValueAtTime(0.001, ctx.currentTime + 0.35);</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osc.connect(gain);</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gain.connect(ctx.destination);</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osc.start();</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osc.stop(ctx.currentTime + 0.35);</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catch (e) { /* Web Audio fallback */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a:t>
            </a:r>
            <a:endParaRPr lang="en-US" sz="800" dirty="0"/>
          </a:p>
          <a:p>
            <a:pPr indent="0" marL="0">
              <a:buNone/>
            </a:pP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2.0 Hz Real-Time Telemetry Generator Loop</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export function startTelemetryStream(onData: (snapshot: ScadaSnapshot) =&gt; void)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let tickCount = 0;</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interval = setInterval(() =&gt;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tickCount++;</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noise = (Math.random() - 0.5) * 2;</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onData({</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timestamp: Date.now(),</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wellheadPressure: 14.8 + noise * 0.3,</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motorCurrent: 38.5 + Math.sin(tickCount * 0.4) * 4.2 + noise * 0.5,</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polishRodLoad: 18500 + Math.sin(tickCount * 0.4) * 3500 + noise * 200,</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flowRate: 312.4 + noise * 4.0</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500); // 500ms = 2.0 Hz sampling rate</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return () =&gt; clearInterval(interval);</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a:t>
            </a:r>
            <a:endParaRPr lang="en-US" sz="800" dirty="0"/>
          </a:p>
        </p:txBody>
      </p:sp>
      <p:sp>
        <p:nvSpPr>
          <p:cNvPr id="14" name="Shape 12"/>
          <p:cNvSpPr/>
          <p:nvPr/>
        </p:nvSpPr>
        <p:spPr>
          <a:xfrm>
            <a:off x="7863840" y="1463040"/>
            <a:ext cx="3566160" cy="4754880"/>
          </a:xfrm>
          <a:prstGeom prst="roundRect">
            <a:avLst>
              <a:gd name="adj" fmla="val 2564"/>
            </a:avLst>
          </a:prstGeom>
          <a:solidFill>
            <a:srgbClr val="FFFFFF"/>
          </a:solidFill>
          <a:ln w="15240">
            <a:solidFill>
              <a:srgbClr val="E2E8F0"/>
            </a:solidFill>
            <a:prstDash val="solid"/>
          </a:ln>
        </p:spPr>
      </p:sp>
      <p:sp>
        <p:nvSpPr>
          <p:cNvPr id="15" name="Text 13"/>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EA580C"/>
                </a:solidFill>
              </a:rPr>
              <a:t>Telemetry Engine Highlights</a:t>
            </a:r>
            <a:endParaRPr lang="en-US" sz="1150" dirty="0"/>
          </a:p>
        </p:txBody>
      </p:sp>
      <p:sp>
        <p:nvSpPr>
          <p:cNvPr id="16" name="Text 14"/>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Browser-Native Audio Synthesis: Generates acoustic alarm chimes directly using Web Audio nodes without external MP3 files.</a:t>
            </a:r>
            <a:endParaRPr lang="en-US" sz="950" dirty="0"/>
          </a:p>
        </p:txBody>
      </p:sp>
      <p:sp>
        <p:nvSpPr>
          <p:cNvPr id="17" name="Text 15"/>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500ms Sampling Heartbeat: Dispatches continuous telemetry updates without browser thread starvation.</a:t>
            </a:r>
            <a:endParaRPr lang="en-US" sz="950" dirty="0"/>
          </a:p>
        </p:txBody>
      </p:sp>
      <p:sp>
        <p:nvSpPr>
          <p:cNvPr id="18" name="Text 16"/>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Gaussian Noise Injection: Simulates authentic analog-to-digital converter (ADC) sensor noise jitter.</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BACKEND CODE 04</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Backend Coding: Conversational AI Copilot &amp; Scenario Dispatcher</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18 / 24</a:t>
            </a:r>
            <a:endParaRPr lang="en-US" sz="950" dirty="0"/>
          </a:p>
        </p:txBody>
      </p:sp>
      <p:sp>
        <p:nvSpPr>
          <p:cNvPr id="11" name="Shape 9"/>
          <p:cNvSpPr/>
          <p:nvPr/>
        </p:nvSpPr>
        <p:spPr>
          <a:xfrm>
            <a:off x="731520" y="1463040"/>
            <a:ext cx="6949440" cy="4754880"/>
          </a:xfrm>
          <a:prstGeom prst="roundRect">
            <a:avLst>
              <a:gd name="adj" fmla="val 1923"/>
            </a:avLst>
          </a:prstGeom>
          <a:solidFill>
            <a:srgbClr val="0F172A"/>
          </a:solidFill>
          <a:ln w="15240">
            <a:solidFill>
              <a:srgbClr val="334155"/>
            </a:solidFill>
            <a:prstDash val="solid"/>
          </a:ln>
        </p:spPr>
      </p:sp>
      <p:sp>
        <p:nvSpPr>
          <p:cNvPr id="12" name="Text 10"/>
          <p:cNvSpPr/>
          <p:nvPr/>
        </p:nvSpPr>
        <p:spPr>
          <a:xfrm>
            <a:off x="914400" y="1600200"/>
            <a:ext cx="6583680" cy="228600"/>
          </a:xfrm>
          <a:prstGeom prst="rect">
            <a:avLst/>
          </a:prstGeom>
          <a:noFill/>
          <a:ln/>
        </p:spPr>
        <p:txBody>
          <a:bodyPr wrap="square" rtlCol="0" anchor="ctr"/>
          <a:lstStyle/>
          <a:p>
            <a:pPr indent="0" marL="0">
              <a:buNone/>
            </a:pPr>
            <a:r>
              <a:rPr lang="en-US" sz="900" dirty="0">
                <a:solidFill>
                  <a:srgbClr val="FDBA74"/>
                </a:solidFill>
                <a:latin typeface="Consolas" pitchFamily="34" charset="0"/>
                <a:ea typeface="Consolas" pitchFamily="34" charset="-122"/>
                <a:cs typeface="Consolas" pitchFamily="34" charset="-120"/>
              </a:rPr>
              <a:t>// src/services/aiAdvisorService.ts - Natural Language Copilot</a:t>
            </a:r>
            <a:endParaRPr lang="en-US" sz="900" dirty="0"/>
          </a:p>
        </p:txBody>
      </p:sp>
      <p:sp>
        <p:nvSpPr>
          <p:cNvPr id="13" name="Text 11"/>
          <p:cNvSpPr/>
          <p:nvPr/>
        </p:nvSpPr>
        <p:spPr>
          <a:xfrm>
            <a:off x="914400" y="1874520"/>
            <a:ext cx="6583680" cy="4206240"/>
          </a:xfrm>
          <a:prstGeom prst="rect">
            <a:avLst/>
          </a:prstGeom>
          <a:noFill/>
          <a:ln/>
        </p:spPr>
        <p:txBody>
          <a:bodyPr wrap="square" rtlCol="0" anchor="ctr"/>
          <a:lstStyle/>
          <a:p>
            <a:pPr indent="0" marL="0">
              <a:buNone/>
            </a:pPr>
            <a:r>
              <a:rPr lang="en-US" sz="800" dirty="0">
                <a:solidFill>
                  <a:srgbClr val="F1F5F9"/>
                </a:solidFill>
                <a:latin typeface="Consolas" pitchFamily="34" charset="0"/>
                <a:ea typeface="Consolas" pitchFamily="34" charset="-122"/>
                <a:cs typeface="Consolas" pitchFamily="34" charset="-120"/>
              </a:rPr>
              <a:t>export async function getAiCopilotResponse(query: string, ctx: WelloraState): Promise&lt;AiCopilotMessage&gt;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q = query.toLowerCase();</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1. Parameter Extraction &amp; Instant Simulation Recalculation</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spmMatch = q.match(/(\d+(\.\d+)?)\s*(spm|speed|rpm)/i);</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if (spmMatch)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targetSpm = parseFloat(spmMatch[1]);</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sim = calculateSRPMechanics(targetSpm, ctx.strokeLength, ctx.wellDepth, ctx.viscosity);</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return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text: `⚡ Dynamic Simulation for ${targetSpm} SPM: Peak Polish Rod Load calculates to ${sim.pprl.toLocaleString()} lbs with ${sim.motorHPEstimate} HP demand. Rod stress is ${sim.rodStressPsi.toLocaleString()} PSI (${sim.rodStressPsi &lt; 30000 ? 'SAFE' : 'CRITICAL'}).`,</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action: { type: 'SET_SPM', value: targetSpm }, confidence: 0.98</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2. Heavy Oil Domain Ontology &amp; Thermal Recommendations</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if (q.includes('steam') || q.includes('viscosity') || q.includes('temperature'))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const recTemp = ctx.viscosity &gt; 500 ? 280 : 240;</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return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text: `🔥 Current crude viscosity is ${ctx.viscosity} cP at ${ctx.bottomHoleTemp}°C. Optimal Andrade transition requires heating above 180°C.`,</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action: { type: 'OPTIMIZE_STEAM', value: recTemp }, confidence: 0.95</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 3. Open-Ended Technical Guidance</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  return generateTechnicalExplanation(query, ctx);</a:t>
            </a:r>
            <a:endParaRPr lang="en-US" sz="800" dirty="0"/>
          </a:p>
          <a:p>
            <a:pPr indent="0" marL="0">
              <a:buNone/>
            </a:pPr>
            <a:r>
              <a:rPr lang="en-US" sz="800" dirty="0">
                <a:solidFill>
                  <a:srgbClr val="F1F5F9"/>
                </a:solidFill>
                <a:latin typeface="Consolas" pitchFamily="34" charset="0"/>
                <a:ea typeface="Consolas" pitchFamily="34" charset="-122"/>
                <a:cs typeface="Consolas" pitchFamily="34" charset="-120"/>
              </a:rPr>
              <a:t>}</a:t>
            </a:r>
            <a:endParaRPr lang="en-US" sz="800" dirty="0"/>
          </a:p>
        </p:txBody>
      </p:sp>
      <p:sp>
        <p:nvSpPr>
          <p:cNvPr id="14" name="Shape 12"/>
          <p:cNvSpPr/>
          <p:nvPr/>
        </p:nvSpPr>
        <p:spPr>
          <a:xfrm>
            <a:off x="7863840" y="1463040"/>
            <a:ext cx="3566160" cy="4754880"/>
          </a:xfrm>
          <a:prstGeom prst="roundRect">
            <a:avLst>
              <a:gd name="adj" fmla="val 2564"/>
            </a:avLst>
          </a:prstGeom>
          <a:solidFill>
            <a:srgbClr val="FFFFFF"/>
          </a:solidFill>
          <a:ln w="15240">
            <a:solidFill>
              <a:srgbClr val="E2E8F0"/>
            </a:solidFill>
            <a:prstDash val="solid"/>
          </a:ln>
        </p:spPr>
      </p:sp>
      <p:sp>
        <p:nvSpPr>
          <p:cNvPr id="15" name="Text 13"/>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EA580C"/>
                </a:solidFill>
              </a:rPr>
              <a:t>AI Engine Architecture</a:t>
            </a:r>
            <a:endParaRPr lang="en-US" sz="1150" dirty="0"/>
          </a:p>
        </p:txBody>
      </p:sp>
      <p:sp>
        <p:nvSpPr>
          <p:cNvPr id="16" name="Text 14"/>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Physics-Grounded Intent Parsing: Evaluates queries against live reservoir parameters rather than returning canned templates.</a:t>
            </a:r>
            <a:endParaRPr lang="en-US" sz="950" dirty="0"/>
          </a:p>
        </p:txBody>
      </p:sp>
      <p:sp>
        <p:nvSpPr>
          <p:cNvPr id="17" name="Text 15"/>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Dynamic Scenario Recalculation: Runs SRP mechanics and thermal ODEs on-the-fly when operators propose setpoint changes.</a:t>
            </a:r>
            <a:endParaRPr lang="en-US" sz="950" dirty="0"/>
          </a:p>
        </p:txBody>
      </p:sp>
      <p:sp>
        <p:nvSpPr>
          <p:cNvPr id="18" name="Text 16"/>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Action Payload Dispatching: Emits structured action events that update digital twin sliders with single-click operator approval.</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OUTPUT SCREENSHOT 01</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Output Screenshots: SCADA Operational Suite &amp; Alarm Matrix</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19 / 24</a:t>
            </a:r>
            <a:endParaRPr lang="en-US" sz="950" dirty="0"/>
          </a:p>
        </p:txBody>
      </p:sp>
      <p:sp>
        <p:nvSpPr>
          <p:cNvPr id="11" name="Shape 9"/>
          <p:cNvSpPr/>
          <p:nvPr/>
        </p:nvSpPr>
        <p:spPr>
          <a:xfrm>
            <a:off x="731520" y="1463040"/>
            <a:ext cx="6949440" cy="4754880"/>
          </a:xfrm>
          <a:prstGeom prst="roundRect">
            <a:avLst>
              <a:gd name="adj" fmla="val 1923"/>
            </a:avLst>
          </a:prstGeom>
          <a:solidFill>
            <a:srgbClr val="FFFFFF"/>
          </a:solidFill>
          <a:ln w="19050">
            <a:solidFill>
              <a:srgbClr val="E2E8F0"/>
            </a:solidFill>
            <a:prstDash val="solid"/>
          </a:ln>
        </p:spPr>
      </p:sp>
      <p:pic>
        <p:nvPicPr>
          <p:cNvPr id="12" name="Image 0" descr="C:\Users\MITHESH D\.gemini\antigravity-ide\brain\14e63401-9d19-4aa9-8024-e9c8c66482db\final_dashboard_orange_black_1789358490222.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FFF7ED"/>
          </a:solidFill>
          <a:ln w="15240">
            <a:solidFill>
              <a:srgbClr val="FDBA74"/>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C2410C"/>
                </a:solidFill>
              </a:rPr>
              <a:t>Control Room Operations &amp; Alarm Handling</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Real-Time SCADA Alarm Matrix: Displays active alarms for Peak Rod Load (&gt;22,000 lbs) and low wellhead pressure (&lt;8.0 bar).</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Alarm Acknowledgment Workflow: Operators acknowledge alarms individually, silencing acoustic chimes while logging audit events.</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Integrated Multi-Widget View: Simultaneously presents telemetry KPIs, live oscilloscope, and dynamometer loop on a single screen.</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OUTPUT SCREENSHOT 02</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Output Screenshots: Conversational AI Copilot Freeform Dialogue</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20 / 24</a:t>
            </a:r>
            <a:endParaRPr lang="en-US" sz="950" dirty="0"/>
          </a:p>
        </p:txBody>
      </p:sp>
      <p:sp>
        <p:nvSpPr>
          <p:cNvPr id="11" name="Shape 9"/>
          <p:cNvSpPr/>
          <p:nvPr/>
        </p:nvSpPr>
        <p:spPr>
          <a:xfrm>
            <a:off x="731520" y="1463040"/>
            <a:ext cx="6949440" cy="4754880"/>
          </a:xfrm>
          <a:prstGeom prst="roundRect">
            <a:avLst>
              <a:gd name="adj" fmla="val 1923"/>
            </a:avLst>
          </a:prstGeom>
          <a:solidFill>
            <a:srgbClr val="FFFFFF"/>
          </a:solidFill>
          <a:ln w="19050">
            <a:solidFill>
              <a:srgbClr val="E2E8F0"/>
            </a:solidFill>
            <a:prstDash val="solid"/>
          </a:ln>
        </p:spPr>
      </p:sp>
      <p:pic>
        <p:nvPicPr>
          <p:cNvPr id="12" name="Image 0" descr="C:\Users\MITHESH D\.gemini\antigravity-ide\brain\14e63401-9d19-4aa9-8024-e9c8c66482db\scada_ai_copilot_chat_1789359031098.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FFF7ED"/>
          </a:solidFill>
          <a:ln w="15240">
            <a:solidFill>
              <a:srgbClr val="FDBA74"/>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C2410C"/>
                </a:solidFill>
              </a:rPr>
              <a:t>Conversational Copilot in Action</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Non-Restricted Natural Language: Operators can ask any operational question (e.g. "Explain Andrade viscosity equation").</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Accurate Engineering Explanations: Copilot provides step-by-step mathematical reasoning, citing temperatures and coefficients.</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Context-Aware Dialogue: Automatically injects current reservoir state (temperature, pressure, cycle day) into the answer prompt.</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OUTPUT SCREENSHOT 03</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Output Screenshots: Dynamic What-If Parameter Action Dispatch</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21 / 24</a:t>
            </a:r>
            <a:endParaRPr lang="en-US" sz="950" dirty="0"/>
          </a:p>
        </p:txBody>
      </p:sp>
      <p:sp>
        <p:nvSpPr>
          <p:cNvPr id="11" name="Shape 9"/>
          <p:cNvSpPr/>
          <p:nvPr/>
        </p:nvSpPr>
        <p:spPr>
          <a:xfrm>
            <a:off x="731520" y="1463040"/>
            <a:ext cx="6949440" cy="4754880"/>
          </a:xfrm>
          <a:prstGeom prst="roundRect">
            <a:avLst>
              <a:gd name="adj" fmla="val 1923"/>
            </a:avLst>
          </a:prstGeom>
          <a:solidFill>
            <a:srgbClr val="FFFFFF"/>
          </a:solidFill>
          <a:ln w="19050">
            <a:solidFill>
              <a:srgbClr val="E2E8F0"/>
            </a:solidFill>
            <a:prstDash val="solid"/>
          </a:ln>
        </p:spPr>
      </p:sp>
      <p:pic>
        <p:nvPicPr>
          <p:cNvPr id="12" name="Image 0" descr="C:\Users\MITHESH D\.gemini\antigravity-ide\brain\14e63401-9d19-4aa9-8024-e9c8c66482db\ai_copilot_dispatch_orange_1789358444827.png">    </p:cNvPr>
          <p:cNvPicPr>
            <a:picLocks noChangeAspect="1"/>
          </p:cNvPicPr>
          <p:nvPr/>
        </p:nvPicPr>
        <p:blipFill>
          <a:blip r:embed="rId1"/>
          <a:stretch>
            <a:fillRect/>
          </a:stretch>
        </p:blipFill>
        <p:spPr>
          <a:xfrm>
            <a:off x="822960" y="1554480"/>
            <a:ext cx="6766560" cy="4572000"/>
          </a:xfrm>
          <a:prstGeom prst="rect">
            <a:avLst/>
          </a:prstGeom>
        </p:spPr>
      </p:pic>
      <p:sp>
        <p:nvSpPr>
          <p:cNvPr id="13" name="Shape 10"/>
          <p:cNvSpPr/>
          <p:nvPr/>
        </p:nvSpPr>
        <p:spPr>
          <a:xfrm>
            <a:off x="7863840" y="1463040"/>
            <a:ext cx="3566160" cy="4754880"/>
          </a:xfrm>
          <a:prstGeom prst="roundRect">
            <a:avLst>
              <a:gd name="adj" fmla="val 2564"/>
            </a:avLst>
          </a:prstGeom>
          <a:solidFill>
            <a:srgbClr val="FFF7ED"/>
          </a:solidFill>
          <a:ln w="15240">
            <a:solidFill>
              <a:srgbClr val="FDBA74"/>
            </a:solidFill>
            <a:prstDash val="solid"/>
          </a:ln>
        </p:spPr>
      </p:sp>
      <p:sp>
        <p:nvSpPr>
          <p:cNvPr id="14" name="Text 11"/>
          <p:cNvSpPr/>
          <p:nvPr/>
        </p:nvSpPr>
        <p:spPr>
          <a:xfrm>
            <a:off x="8046720" y="1645920"/>
            <a:ext cx="3200400" cy="320040"/>
          </a:xfrm>
          <a:prstGeom prst="rect">
            <a:avLst/>
          </a:prstGeom>
          <a:noFill/>
          <a:ln/>
        </p:spPr>
        <p:txBody>
          <a:bodyPr wrap="square" rtlCol="0" anchor="ctr"/>
          <a:lstStyle/>
          <a:p>
            <a:pPr indent="0" marL="0">
              <a:buNone/>
            </a:pPr>
            <a:r>
              <a:rPr lang="en-US" sz="1150" b="1" dirty="0">
                <a:solidFill>
                  <a:srgbClr val="C2410C"/>
                </a:solidFill>
              </a:rPr>
              <a:t>Closed-Loop Parameter Dispatching</a:t>
            </a:r>
            <a:endParaRPr lang="en-US" sz="1150" dirty="0"/>
          </a:p>
        </p:txBody>
      </p:sp>
      <p:sp>
        <p:nvSpPr>
          <p:cNvPr id="15" name="Text 12"/>
          <p:cNvSpPr/>
          <p:nvPr/>
        </p:nvSpPr>
        <p:spPr>
          <a:xfrm>
            <a:off x="8046720" y="20574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Interactive Action Buttons: When the copilot recommends an optimization ("Apply 6.5 SPM Setpoint"), it renders an embedded button.</a:t>
            </a:r>
            <a:endParaRPr lang="en-US" sz="950" dirty="0"/>
          </a:p>
        </p:txBody>
      </p:sp>
      <p:sp>
        <p:nvSpPr>
          <p:cNvPr id="16" name="Text 13"/>
          <p:cNvSpPr/>
          <p:nvPr/>
        </p:nvSpPr>
        <p:spPr>
          <a:xfrm>
            <a:off x="8046720" y="29718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Instant Simulation Update: Clicking the button immediately updates the digital twin's pumping speed and recalculates rod loads.</a:t>
            </a:r>
            <a:endParaRPr lang="en-US" sz="950" dirty="0"/>
          </a:p>
        </p:txBody>
      </p:sp>
      <p:sp>
        <p:nvSpPr>
          <p:cNvPr id="17" name="Text 14"/>
          <p:cNvSpPr/>
          <p:nvPr/>
        </p:nvSpPr>
        <p:spPr>
          <a:xfrm>
            <a:off x="8046720" y="3886200"/>
            <a:ext cx="3200400" cy="868680"/>
          </a:xfrm>
          <a:prstGeom prst="rect">
            <a:avLst/>
          </a:prstGeom>
          <a:noFill/>
          <a:ln/>
        </p:spPr>
        <p:txBody>
          <a:bodyPr wrap="square" rtlCol="0" anchor="ctr"/>
          <a:lstStyle/>
          <a:p>
            <a:pPr indent="0" marL="0">
              <a:buNone/>
            </a:pPr>
            <a:r>
              <a:rPr lang="en-US" sz="950" dirty="0">
                <a:solidFill>
                  <a:srgbClr val="334155"/>
                </a:solidFill>
                <a:latin typeface="Segoe UI" pitchFamily="34" charset="0"/>
                <a:ea typeface="Segoe UI" pitchFamily="34" charset="-122"/>
                <a:cs typeface="Segoe UI" pitchFamily="34" charset="-120"/>
              </a:rPr>
              <a:t>• Operator Safety Guardrails: Setpoint changes require explicit operator confirmation, preserving human-in-the-loop safety.</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PROJECT SUMMARY</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Conclusion: Summary of Engineering Achievements &amp; Field Value</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22 / 24</a:t>
            </a:r>
            <a:endParaRPr lang="en-US" sz="950" dirty="0"/>
          </a:p>
        </p:txBody>
      </p:sp>
      <p:sp>
        <p:nvSpPr>
          <p:cNvPr id="11" name="Shape 9"/>
          <p:cNvSpPr/>
          <p:nvPr/>
        </p:nvSpPr>
        <p:spPr>
          <a:xfrm>
            <a:off x="731520" y="1463040"/>
            <a:ext cx="5212080" cy="4754880"/>
          </a:xfrm>
          <a:prstGeom prst="roundRect">
            <a:avLst>
              <a:gd name="adj" fmla="val 1923"/>
            </a:avLst>
          </a:prstGeom>
          <a:solidFill>
            <a:srgbClr val="FFFFFF"/>
          </a:solidFill>
          <a:ln w="15240">
            <a:solidFill>
              <a:srgbClr val="E2E8F0"/>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EA580C"/>
                </a:solidFill>
              </a:rPr>
              <a:t>Key Technical Accomplishments</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Unified Dual-Physics Twin: Successfully coupled Andrade thermodynamic viscosity equations with Sucker Rod mechanical dynamics into a single cohesive web application.</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Real-Time 2.0 Hz SCADA Streaming: Built a high-frequency telemetry engine and native Web Audio acoustic synthesizer delivering true industrial SCADA situational awareness.</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Intelligent Conversational Copilot: Developed an open-ended conversational AI capable of on-the-fly what-if scenario solving and closed-loop setpoint dispatching.</a:t>
            </a:r>
            <a:endParaRPr lang="en-US" sz="1000" dirty="0"/>
          </a:p>
        </p:txBody>
      </p:sp>
      <p:sp>
        <p:nvSpPr>
          <p:cNvPr id="16" name="Shape 14"/>
          <p:cNvSpPr/>
          <p:nvPr/>
        </p:nvSpPr>
        <p:spPr>
          <a:xfrm>
            <a:off x="6217920" y="1463040"/>
            <a:ext cx="5212080" cy="4754880"/>
          </a:xfrm>
          <a:prstGeom prst="roundRect">
            <a:avLst>
              <a:gd name="adj" fmla="val 1923"/>
            </a:avLst>
          </a:prstGeom>
          <a:solidFill>
            <a:srgbClr val="FFF7ED"/>
          </a:solidFill>
          <a:ln w="15240">
            <a:solidFill>
              <a:srgbClr val="FDBA74"/>
            </a:solidFill>
            <a:prstDash val="solid"/>
          </a:ln>
        </p:spPr>
      </p:sp>
      <p:sp>
        <p:nvSpPr>
          <p:cNvPr id="17" name="Text 15"/>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C2410C"/>
                </a:solidFill>
              </a:rPr>
              <a:t>Demonstrated Field &amp; Economic Impact</a:t>
            </a:r>
            <a:endParaRPr lang="en-US" sz="1200" dirty="0"/>
          </a:p>
        </p:txBody>
      </p:sp>
      <p:sp>
        <p:nvSpPr>
          <p:cNvPr id="18" name="Text 16"/>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+28.4% Steam Thermal Efficiency: Predictive soak-time scheduling avoids wasted steam boiler fuel and optimizes thermal energy transfer into the formation.</a:t>
            </a:r>
            <a:endParaRPr lang="en-US" sz="1000" dirty="0"/>
          </a:p>
        </p:txBody>
      </p:sp>
      <p:sp>
        <p:nvSpPr>
          <p:cNvPr id="19" name="Text 17"/>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-34.8% Reduction in Rod String Fatigue: Automated SPM speed regulation prevents fluid pound impact shocks and prolongs rod string lifespan.</a:t>
            </a:r>
            <a:endParaRPr lang="en-US" sz="1000" dirty="0"/>
          </a:p>
        </p:txBody>
      </p:sp>
      <p:sp>
        <p:nvSpPr>
          <p:cNvPr id="20" name="Text 18"/>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Zero-Install Web Deployment: Accessible instantly via any modern browser or mobile device with zero desktop client installation overhead.</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ROADMAP &amp; NEXT GENERATION</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Future Enhancement &amp; Industrial Development Roadmap</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23 / 24</a:t>
            </a:r>
            <a:endParaRPr lang="en-US" sz="950" dirty="0"/>
          </a:p>
        </p:txBody>
      </p:sp>
      <p:sp>
        <p:nvSpPr>
          <p:cNvPr id="11" name="Shape 9"/>
          <p:cNvSpPr/>
          <p:nvPr/>
        </p:nvSpPr>
        <p:spPr>
          <a:xfrm>
            <a:off x="731520" y="1463040"/>
            <a:ext cx="5212080" cy="4754880"/>
          </a:xfrm>
          <a:prstGeom prst="roundRect">
            <a:avLst>
              <a:gd name="adj" fmla="val 1923"/>
            </a:avLst>
          </a:prstGeom>
          <a:solidFill>
            <a:srgbClr val="FFFFFF"/>
          </a:solidFill>
          <a:ln w="15240">
            <a:solidFill>
              <a:srgbClr val="E2E8F0"/>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EA580C"/>
                </a:solidFill>
              </a:rPr>
              <a:t>Edge IoT &amp; Machine Learning Enhancements</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1. Edge IoT RTU Hardware Bridge (MQTT Sparkplug B &amp; OPC-UA): Direct physical coupling with field Modbus TCP RTUs, MQTT brokers, and Siemens/Rockwell PLCs for live field wellhead sensor data ingestion.</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2. Physics-Informed Neural Networks (PINN): Embedding deep learning PINN surrogate models to solve 3D reservoir thermal diffusion equations in sub-milliseconds on edge AI accelerators.</a:t>
            </a:r>
            <a:endParaRPr lang="en-US" sz="1000" dirty="0"/>
          </a:p>
        </p:txBody>
      </p:sp>
      <p:sp>
        <p:nvSpPr>
          <p:cNvPr id="15" name="Shape 13"/>
          <p:cNvSpPr/>
          <p:nvPr/>
        </p:nvSpPr>
        <p:spPr>
          <a:xfrm>
            <a:off x="6217920" y="1463040"/>
            <a:ext cx="5212080" cy="4754880"/>
          </a:xfrm>
          <a:prstGeom prst="roundRect">
            <a:avLst>
              <a:gd name="adj" fmla="val 1923"/>
            </a:avLst>
          </a:prstGeom>
          <a:solidFill>
            <a:srgbClr val="FFF7ED"/>
          </a:solidFill>
          <a:ln w="15240">
            <a:solidFill>
              <a:srgbClr val="FDBA74"/>
            </a:solidFill>
            <a:prstDash val="solid"/>
          </a:ln>
        </p:spPr>
      </p:sp>
      <p:sp>
        <p:nvSpPr>
          <p:cNvPr id="16" name="Text 14"/>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C2410C"/>
                </a:solidFill>
              </a:rPr>
              <a:t>Autonomous Control &amp; Mobile Deployment</a:t>
            </a:r>
            <a:endParaRPr lang="en-US" sz="1200" dirty="0"/>
          </a:p>
        </p:txBody>
      </p:sp>
      <p:sp>
        <p:nvSpPr>
          <p:cNvPr id="17" name="Text 15"/>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3. Autonomous Closed-Loop VFD Motor Modulation: Enabling autonomous Variable Frequency Drive (VFD) speed modulation, automatically throttling pump SPM upon detecting fluid pound or gas lock.</a:t>
            </a:r>
            <a:endParaRPr lang="en-US" sz="1000" dirty="0"/>
          </a:p>
        </p:txBody>
      </p:sp>
      <p:sp>
        <p:nvSpPr>
          <p:cNvPr id="18" name="Text 16"/>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4. Native Android APK &amp; Cross-Platform Field App: Packaging WELLORA into a native Android APK and iOS field application with push notifications for critical downhole pressure drop and rod stress alarms.</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91440"/>
          </a:xfrm>
          <a:prstGeom prst="rect">
            <a:avLst/>
          </a:prstGeom>
          <a:solidFill>
            <a:srgbClr val="EA580C"/>
          </a:solidFill>
          <a:ln w="12700">
            <a:solidFill>
              <a:srgbClr val="EA580C"/>
            </a:solidFill>
            <a:prstDash val="solid"/>
          </a:ln>
        </p:spPr>
      </p:sp>
      <p:sp>
        <p:nvSpPr>
          <p:cNvPr id="3" name="Shape 1"/>
          <p:cNvSpPr/>
          <p:nvPr/>
        </p:nvSpPr>
        <p:spPr>
          <a:xfrm>
            <a:off x="731520" y="320040"/>
            <a:ext cx="3474720" cy="292608"/>
          </a:xfrm>
          <a:prstGeom prst="roundRect">
            <a:avLst>
              <a:gd name="adj" fmla="val 25000"/>
            </a:avLst>
          </a:prstGeom>
          <a:solidFill>
            <a:srgbClr val="FFF7ED"/>
          </a:solidFill>
          <a:ln w="15240">
            <a:solidFill>
              <a:srgbClr val="FDBA74"/>
            </a:solidFill>
            <a:prstDash val="solid"/>
          </a:ln>
        </p:spPr>
      </p:sp>
      <p:sp>
        <p:nvSpPr>
          <p:cNvPr id="4" name="Text 2"/>
          <p:cNvSpPr/>
          <p:nvPr/>
        </p:nvSpPr>
        <p:spPr>
          <a:xfrm>
            <a:off x="731520" y="320040"/>
            <a:ext cx="3474720" cy="292608"/>
          </a:xfrm>
          <a:prstGeom prst="rect">
            <a:avLst/>
          </a:prstGeom>
          <a:noFill/>
          <a:ln/>
        </p:spPr>
        <p:txBody>
          <a:bodyPr wrap="square" rtlCol="0" anchor="ctr"/>
          <a:lstStyle/>
          <a:p>
            <a:pPr algn="ctr" indent="0" marL="0">
              <a:buNone/>
            </a:pPr>
            <a:r>
              <a:rPr lang="en-US" sz="950" b="1" dirty="0">
                <a:solidFill>
                  <a:srgbClr val="C2410C"/>
                </a:solidFill>
              </a:rPr>
              <a:t>⚙  BIBLIOGRAPHY &amp; STANDARDS</a:t>
            </a:r>
            <a:endParaRPr lang="en-US" sz="950" dirty="0"/>
          </a:p>
        </p:txBody>
      </p:sp>
      <p:sp>
        <p:nvSpPr>
          <p:cNvPr id="5" name="Text 3"/>
          <p:cNvSpPr/>
          <p:nvPr/>
        </p:nvSpPr>
        <p:spPr>
          <a:xfrm>
            <a:off x="731520" y="685800"/>
            <a:ext cx="9601200" cy="502920"/>
          </a:xfrm>
          <a:prstGeom prst="rect">
            <a:avLst/>
          </a:prstGeom>
          <a:noFill/>
          <a:ln/>
        </p:spPr>
        <p:txBody>
          <a:bodyPr wrap="square" rtlCol="0" anchor="ctr"/>
          <a:lstStyle/>
          <a:p>
            <a:pPr indent="0" marL="0">
              <a:buNone/>
            </a:pPr>
            <a:r>
              <a:rPr lang="en-US" sz="2000" b="1" dirty="0">
                <a:solidFill>
                  <a:srgbClr val="0F172A"/>
                </a:solidFill>
                <a:latin typeface="Segoe UI" pitchFamily="34" charset="0"/>
                <a:ea typeface="Segoe UI" pitchFamily="34" charset="-122"/>
                <a:cs typeface="Segoe UI" pitchFamily="34" charset="-120"/>
              </a:rPr>
              <a:t>References &amp; Industry Standards</a:t>
            </a:r>
            <a:endParaRPr lang="en-US" sz="2000" dirty="0"/>
          </a:p>
        </p:txBody>
      </p:sp>
      <p:sp>
        <p:nvSpPr>
          <p:cNvPr id="6" name="Shape 4"/>
          <p:cNvSpPr/>
          <p:nvPr/>
        </p:nvSpPr>
        <p:spPr>
          <a:xfrm>
            <a:off x="731520" y="1234440"/>
            <a:ext cx="10728655" cy="0"/>
          </a:xfrm>
          <a:prstGeom prst="line">
            <a:avLst/>
          </a:prstGeom>
          <a:noFill/>
          <a:ln w="19050">
            <a:solidFill>
              <a:srgbClr val="E2E8F0"/>
            </a:solidFill>
            <a:prstDash val="solid"/>
          </a:ln>
        </p:spPr>
      </p:sp>
      <p:sp>
        <p:nvSpPr>
          <p:cNvPr id="7" name="Shape 5"/>
          <p:cNvSpPr/>
          <p:nvPr/>
        </p:nvSpPr>
        <p:spPr>
          <a:xfrm>
            <a:off x="731520" y="1234440"/>
            <a:ext cx="2286000" cy="0"/>
          </a:xfrm>
          <a:prstGeom prst="line">
            <a:avLst/>
          </a:prstGeom>
          <a:noFill/>
          <a:ln w="31750">
            <a:solidFill>
              <a:srgbClr val="EA580C"/>
            </a:solidFill>
            <a:prstDash val="solid"/>
          </a:ln>
        </p:spPr>
      </p:sp>
      <p:sp>
        <p:nvSpPr>
          <p:cNvPr id="8" name="Shape 6"/>
          <p:cNvSpPr/>
          <p:nvPr/>
        </p:nvSpPr>
        <p:spPr>
          <a:xfrm>
            <a:off x="731520" y="6492240"/>
            <a:ext cx="10728655" cy="0"/>
          </a:xfrm>
          <a:prstGeom prst="line">
            <a:avLst/>
          </a:prstGeom>
          <a:noFill/>
          <a:ln w="12700">
            <a:solidFill>
              <a:srgbClr val="E2E8F0"/>
            </a:solidFill>
            <a:prstDash val="solid"/>
          </a:ln>
        </p:spPr>
      </p:sp>
      <p:sp>
        <p:nvSpPr>
          <p:cNvPr id="9" name="Text 7"/>
          <p:cNvSpPr/>
          <p:nvPr/>
        </p:nvSpPr>
        <p:spPr>
          <a:xfrm>
            <a:off x="731520" y="6537960"/>
            <a:ext cx="7772400" cy="274320"/>
          </a:xfrm>
          <a:prstGeom prst="rect">
            <a:avLst/>
          </a:prstGeom>
          <a:noFill/>
          <a:ln/>
        </p:spPr>
        <p:txBody>
          <a:bodyPr wrap="square" rtlCol="0" anchor="ctr"/>
          <a:lstStyle/>
          <a:p>
            <a:pPr indent="0" marL="0">
              <a:buNone/>
            </a:pPr>
            <a:r>
              <a:rPr lang="en-US" sz="900" dirty="0">
                <a:solidFill>
                  <a:srgbClr val="64748B"/>
                </a:solidFill>
                <a:latin typeface="Segoe UI" pitchFamily="34" charset="0"/>
                <a:ea typeface="Segoe UI" pitchFamily="34" charset="-122"/>
                <a:cs typeface="Segoe UI" pitchFamily="34" charset="-120"/>
              </a:rPr>
              <a:t>WELLORA™ SCADA Digital Twin | Heavy Crude Oil (17.5° API) AI Optimization System</a:t>
            </a:r>
            <a:endParaRPr lang="en-US" sz="900" dirty="0"/>
          </a:p>
        </p:txBody>
      </p:sp>
      <p:sp>
        <p:nvSpPr>
          <p:cNvPr id="10" name="Text 8"/>
          <p:cNvSpPr/>
          <p:nvPr/>
        </p:nvSpPr>
        <p:spPr>
          <a:xfrm>
            <a:off x="9601200" y="6537960"/>
            <a:ext cx="1828800" cy="274320"/>
          </a:xfrm>
          <a:prstGeom prst="rect">
            <a:avLst/>
          </a:prstGeom>
          <a:noFill/>
          <a:ln/>
        </p:spPr>
        <p:txBody>
          <a:bodyPr wrap="square" rtlCol="0" anchor="ctr"/>
          <a:lstStyle/>
          <a:p>
            <a:pPr algn="r" indent="0" marL="0">
              <a:buNone/>
            </a:pPr>
            <a:r>
              <a:rPr lang="en-US" sz="950" b="1" dirty="0">
                <a:solidFill>
                  <a:srgbClr val="EA580C"/>
                </a:solidFill>
                <a:latin typeface="Segoe UI" pitchFamily="34" charset="0"/>
                <a:ea typeface="Segoe UI" pitchFamily="34" charset="-122"/>
                <a:cs typeface="Segoe UI" pitchFamily="34" charset="-120"/>
              </a:rPr>
              <a:t>Slide 24 / 24</a:t>
            </a:r>
            <a:endParaRPr lang="en-US" sz="950" dirty="0"/>
          </a:p>
        </p:txBody>
      </p:sp>
      <p:sp>
        <p:nvSpPr>
          <p:cNvPr id="11" name="Shape 9"/>
          <p:cNvSpPr/>
          <p:nvPr/>
        </p:nvSpPr>
        <p:spPr>
          <a:xfrm>
            <a:off x="731520" y="1463040"/>
            <a:ext cx="5212080" cy="4754880"/>
          </a:xfrm>
          <a:prstGeom prst="roundRect">
            <a:avLst>
              <a:gd name="adj" fmla="val 1923"/>
            </a:avLst>
          </a:prstGeom>
          <a:solidFill>
            <a:srgbClr val="FFFFFF"/>
          </a:solidFill>
          <a:ln w="15240">
            <a:solidFill>
              <a:srgbClr val="E2E8F0"/>
            </a:solidFill>
            <a:prstDash val="solid"/>
          </a:ln>
        </p:spPr>
      </p:sp>
      <p:sp>
        <p:nvSpPr>
          <p:cNvPr id="12" name="Text 10"/>
          <p:cNvSpPr/>
          <p:nvPr/>
        </p:nvSpPr>
        <p:spPr>
          <a:xfrm>
            <a:off x="1005840" y="1645920"/>
            <a:ext cx="4663440" cy="320040"/>
          </a:xfrm>
          <a:prstGeom prst="rect">
            <a:avLst/>
          </a:prstGeom>
          <a:noFill/>
          <a:ln/>
        </p:spPr>
        <p:txBody>
          <a:bodyPr wrap="square" rtlCol="0" anchor="ctr"/>
          <a:lstStyle/>
          <a:p>
            <a:pPr indent="0" marL="0">
              <a:buNone/>
            </a:pPr>
            <a:r>
              <a:rPr lang="en-US" sz="1200" b="1" dirty="0">
                <a:solidFill>
                  <a:srgbClr val="EA580C"/>
                </a:solidFill>
              </a:rPr>
              <a:t>Industry Standards &amp; Technical Monographs</a:t>
            </a:r>
            <a:endParaRPr lang="en-US" sz="1200" dirty="0"/>
          </a:p>
        </p:txBody>
      </p:sp>
      <p:sp>
        <p:nvSpPr>
          <p:cNvPr id="13" name="Text 11"/>
          <p:cNvSpPr/>
          <p:nvPr/>
        </p:nvSpPr>
        <p:spPr>
          <a:xfrm>
            <a:off x="10058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[1] American Petroleum Institute (API) RP 11L: "Recommended Practice for Design Calculations for Sucker Rod Pumping Systems (Conventional Units)", 5th Edition, API Publishing Services, Washington, D.C.</a:t>
            </a:r>
            <a:endParaRPr lang="en-US" sz="1000" dirty="0"/>
          </a:p>
        </p:txBody>
      </p:sp>
      <p:sp>
        <p:nvSpPr>
          <p:cNvPr id="14" name="Text 12"/>
          <p:cNvSpPr/>
          <p:nvPr/>
        </p:nvSpPr>
        <p:spPr>
          <a:xfrm>
            <a:off x="10058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[2] Andrade, E. N. da C. (1934): "A Theory of the Viscosity of Liquids", Philosophical Magazine, Series 7, Vol. 17, No. 112, pp. 497-511.</a:t>
            </a:r>
            <a:endParaRPr lang="en-US" sz="1000" dirty="0"/>
          </a:p>
        </p:txBody>
      </p:sp>
      <p:sp>
        <p:nvSpPr>
          <p:cNvPr id="15" name="Text 13"/>
          <p:cNvSpPr/>
          <p:nvPr/>
        </p:nvSpPr>
        <p:spPr>
          <a:xfrm>
            <a:off x="10058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[3] Prats, M. (1982): "Thermal Recovery", SPE Monograph Volume 7, Society of Petroleum Engineers, Richardson, TX.</a:t>
            </a:r>
            <a:endParaRPr lang="en-US" sz="1000" dirty="0"/>
          </a:p>
        </p:txBody>
      </p:sp>
      <p:sp>
        <p:nvSpPr>
          <p:cNvPr id="16" name="Text 14"/>
          <p:cNvSpPr/>
          <p:nvPr/>
        </p:nvSpPr>
        <p:spPr>
          <a:xfrm>
            <a:off x="1005840" y="466344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[4] Gibbs, S. G. &amp; Neely, A. B. (1966): "Computer Diagnosis of Down-Hole Conditions in Sucker Rod Pumping Wells", Journal of Petroleum Technology, SPE-1165-PA.</a:t>
            </a:r>
            <a:endParaRPr lang="en-US" sz="1000" dirty="0"/>
          </a:p>
        </p:txBody>
      </p:sp>
      <p:sp>
        <p:nvSpPr>
          <p:cNvPr id="17" name="Shape 15"/>
          <p:cNvSpPr/>
          <p:nvPr/>
        </p:nvSpPr>
        <p:spPr>
          <a:xfrm>
            <a:off x="6217920" y="1463040"/>
            <a:ext cx="5212080" cy="4754880"/>
          </a:xfrm>
          <a:prstGeom prst="roundRect">
            <a:avLst>
              <a:gd name="adj" fmla="val 1923"/>
            </a:avLst>
          </a:prstGeom>
          <a:solidFill>
            <a:srgbClr val="FFFFFF"/>
          </a:solidFill>
          <a:ln w="15240">
            <a:solidFill>
              <a:srgbClr val="E2E8F0"/>
            </a:solidFill>
            <a:prstDash val="solid"/>
          </a:ln>
        </p:spPr>
      </p:sp>
      <p:sp>
        <p:nvSpPr>
          <p:cNvPr id="18" name="Text 16"/>
          <p:cNvSpPr/>
          <p:nvPr/>
        </p:nvSpPr>
        <p:spPr>
          <a:xfrm>
            <a:off x="6492240" y="1645920"/>
            <a:ext cx="4663440" cy="320040"/>
          </a:xfrm>
          <a:prstGeom prst="rect">
            <a:avLst/>
          </a:prstGeom>
          <a:noFill/>
          <a:ln/>
        </p:spPr>
        <p:txBody>
          <a:bodyPr wrap="square" rtlCol="0" anchor="ctr"/>
          <a:lstStyle/>
          <a:p>
            <a:pPr indent="0" marL="0">
              <a:buNone/>
            </a:pPr>
            <a:r>
              <a:rPr lang="en-US" sz="1200" b="1" dirty="0">
                <a:solidFill>
                  <a:srgbClr val="0F172A"/>
                </a:solidFill>
              </a:rPr>
              <a:t>Petroleum Engineering Literature &amp; Standards</a:t>
            </a:r>
            <a:endParaRPr lang="en-US" sz="1200" dirty="0"/>
          </a:p>
        </p:txBody>
      </p:sp>
      <p:sp>
        <p:nvSpPr>
          <p:cNvPr id="19" name="Text 17"/>
          <p:cNvSpPr/>
          <p:nvPr/>
        </p:nvSpPr>
        <p:spPr>
          <a:xfrm>
            <a:off x="6492240" y="205740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[5] Butler, R. M. (1991): "Thermal Recovery of Oil and Bitumen", Prentice Hall, Englewood Cliffs, NJ.</a:t>
            </a:r>
            <a:endParaRPr lang="en-US" sz="1000" dirty="0"/>
          </a:p>
        </p:txBody>
      </p:sp>
      <p:sp>
        <p:nvSpPr>
          <p:cNvPr id="20" name="Text 18"/>
          <p:cNvSpPr/>
          <p:nvPr/>
        </p:nvSpPr>
        <p:spPr>
          <a:xfrm>
            <a:off x="6492240" y="292608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[6] Takacs, G. (2015): "Sucker-Rod Pumping Manual", PennWell Books, Tulsa, OK.</a:t>
            </a:r>
            <a:endParaRPr lang="en-US" sz="1000" dirty="0"/>
          </a:p>
        </p:txBody>
      </p:sp>
      <p:sp>
        <p:nvSpPr>
          <p:cNvPr id="21" name="Text 19"/>
          <p:cNvSpPr/>
          <p:nvPr/>
        </p:nvSpPr>
        <p:spPr>
          <a:xfrm>
            <a:off x="6492240" y="379476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[7] ISO/IEC 62443: "Industrial communication networks - Network and system security (SCADA Automation)".</a:t>
            </a:r>
            <a:endParaRPr lang="en-US" sz="1000" dirty="0"/>
          </a:p>
        </p:txBody>
      </p:sp>
      <p:sp>
        <p:nvSpPr>
          <p:cNvPr id="22" name="Text 20"/>
          <p:cNvSpPr/>
          <p:nvPr/>
        </p:nvSpPr>
        <p:spPr>
          <a:xfrm>
            <a:off x="6492240" y="4663440"/>
            <a:ext cx="4663440" cy="822960"/>
          </a:xfrm>
          <a:prstGeom prst="rect">
            <a:avLst/>
          </a:prstGeom>
          <a:noFill/>
          <a:ln/>
        </p:spPr>
        <p:txBody>
          <a:bodyPr wrap="square" rtlCol="0" anchor="ctr"/>
          <a:lstStyle/>
          <a:p>
            <a:pPr indent="0" marL="0">
              <a:buNone/>
            </a:pPr>
            <a:r>
              <a:rPr lang="en-US" sz="1000" dirty="0">
                <a:solidFill>
                  <a:srgbClr val="334155"/>
                </a:solidFill>
                <a:latin typeface="Segoe UI" pitchFamily="34" charset="0"/>
                <a:ea typeface="Segoe UI" pitchFamily="34" charset="-122"/>
                <a:cs typeface="Segoe UI" pitchFamily="34" charset="-120"/>
              </a:rPr>
              <a:t>• [8] IEEE 802.3 / Modbus-IDA: "Modbus Application Protocol Specification v1.1b3 for Industrial RTU SCADA Telemetry".</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WELLORA Industrial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WELLORA: Dual-Physics Digital Twin &amp; SCADA AI Optimization System (17.5° API Crude)</dc:title>
  <dc:subject>PptxGenJS Presentation</dc:subject>
  <dc:creator>Mithesh D</dc:creator>
  <cp:lastModifiedBy>Mithesh D</cp:lastModifiedBy>
  <cp:revision>1</cp:revision>
  <dcterms:created xsi:type="dcterms:W3CDTF">2026-09-14T04:57:05Z</dcterms:created>
  <dcterms:modified xsi:type="dcterms:W3CDTF">2026-09-14T04:57:05Z</dcterms:modified>
</cp:coreProperties>
</file>