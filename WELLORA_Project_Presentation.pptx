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10362895" cy="5029200"/>
          </a:xfrm>
          <a:prstGeom prst="roundRect">
            <a:avLst>
              <a:gd name="adj" fmla="val 2727"/>
            </a:avLst>
          </a:prstGeom>
          <a:solidFill>
            <a:srgbClr val="121722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280160"/>
            <a:ext cx="4389120" cy="365760"/>
          </a:xfrm>
          <a:prstGeom prst="roundRect">
            <a:avLst>
              <a:gd name="adj" fmla="val 25000"/>
            </a:avLst>
          </a:prstGeom>
          <a:solidFill>
            <a:srgbClr val="381B09"/>
          </a:solidFill>
          <a:ln w="15240">
            <a:solidFill>
              <a:srgbClr val="FF6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280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726"/>
                </a:solidFill>
              </a:rPr>
              <a:t>⚡ HEAVY CRUDE OIL (17.5° API) DIGITAL TWIN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WELLORA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Dual-Physics Digital Twin &amp; Real-Time SCADA AI Optimization 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Coupled Andrade Thermal Viscosity, Sucker Rod Dynamics, Cyclic Steam Stimulation (CSS) EOR &amp; Gemini Conversational AI Copilot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4389120"/>
            <a:ext cx="1783080" cy="320040"/>
          </a:xfrm>
          <a:prstGeom prst="roundRect">
            <a:avLst>
              <a:gd name="adj" fmla="val 17143"/>
            </a:avLst>
          </a:prstGeom>
          <a:solidFill>
            <a:srgbClr val="1A233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389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</a:rPr>
              <a:t>REACT 18 + TS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46120" y="4389120"/>
            <a:ext cx="1783080" cy="320040"/>
          </a:xfrm>
          <a:prstGeom prst="roundRect">
            <a:avLst>
              <a:gd name="adj" fmla="val 17143"/>
            </a:avLst>
          </a:prstGeom>
          <a:solidFill>
            <a:srgbClr val="1A233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4389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</a:rPr>
              <a:t>DUAL-PHYSICS ODE SOLVER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120640" y="4389120"/>
            <a:ext cx="1783080" cy="320040"/>
          </a:xfrm>
          <a:prstGeom prst="roundRect">
            <a:avLst>
              <a:gd name="adj" fmla="val 17143"/>
            </a:avLst>
          </a:prstGeom>
          <a:solidFill>
            <a:srgbClr val="1A233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4389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</a:rPr>
              <a:t>2Hz REAL-TIME SCADA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995160" y="4389120"/>
            <a:ext cx="1783080" cy="320040"/>
          </a:xfrm>
          <a:prstGeom prst="roundRect">
            <a:avLst>
              <a:gd name="adj" fmla="val 17143"/>
            </a:avLst>
          </a:prstGeom>
          <a:solidFill>
            <a:srgbClr val="1A233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4389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</a:rPr>
              <a:t>LASER DYNAMOMETER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869680" y="4389120"/>
            <a:ext cx="1783080" cy="320040"/>
          </a:xfrm>
          <a:prstGeom prst="roundRect">
            <a:avLst>
              <a:gd name="adj" fmla="val 17143"/>
            </a:avLst>
          </a:prstGeom>
          <a:solidFill>
            <a:srgbClr val="1A233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4389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</a:rPr>
              <a:t>CONVERSATIONAL AI COPILOT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71600" y="49377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Mithesh 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Project: Production SCADA Digital Twin &amp; AI Systems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4937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Demo: http://localhost:5173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Deployment: Vercel Production Cloud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3291840" cy="274320"/>
          </a:xfrm>
          <a:prstGeom prst="roundRect">
            <a:avLst>
              <a:gd name="adj" fmla="val 26667"/>
            </a:avLst>
          </a:prstGeom>
          <a:solidFill>
            <a:srgbClr val="24160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726"/>
                </a:solidFill>
              </a:rPr>
              <a:t>⚙  EXECUTIVE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Abstract: Dual-Physics SCADA Digital Twin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23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492240"/>
            <a:ext cx="10728655" cy="0"/>
          </a:xfrm>
          <a:prstGeom prst="line">
            <a:avLst/>
          </a:prstGeom>
          <a:noFill/>
          <a:ln w="12700">
            <a:solidFill>
              <a:srgbClr val="1A2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WELLORA™ SCADA Digital Twin | Heavy Crude Oil (17.5° API) AI Optimization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21722"/>
          </a:solidFill>
          <a:ln w="12700">
            <a:solidFill>
              <a:srgbClr val="232E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00"/>
                </a:solidFill>
              </a:rPr>
              <a:t>EXECUTIVE SUMMARY &amp; PROBLEM STATEMENT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Heavy Crude Oil (17.5° API) faces acute extraction challenges due to extreme bottom-hole fluid viscosity (&gt;3,500 cP at reservoir temperature 28°C), causing severe rod string drag, pump floating, and premature motor burnout.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29718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Cyclic Steam Stimulation (CSS) provides thermal energy (220°C - 310°C) to dramatically lower oil viscosity via Andrade's exponential thermal relation.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38404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Conventional SCADA systems lack physics integration, acting as passive recorders rather than predictive digital twins.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47091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WELLORA bridges this critical gap by delivering a real-time Dual-Physics Digital Twin combining Thermal EOR ODEs, Sucker Rod Pump (SRP) stress mechanics, 2 Hz live SCADA telemetry, and an open-ended conversational AI Copilot.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21722"/>
          </a:solidFill>
          <a:ln w="12700">
            <a:solidFill>
              <a:srgbClr val="232E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CORE VALUE DELIVERABLES &amp; IMPACT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10312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182030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194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00"/>
                </a:solidFill>
              </a:rPr>
              <a:t>+28.4%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6384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Steam Thermal Utilization Efficiency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2560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ABB8"/>
                </a:solidFill>
              </a:rPr>
              <a:t>Predictive soak-time optimization prevents wasted steam boiler enthalpy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92240" y="306324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182030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3154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00"/>
                </a:solidFill>
              </a:rPr>
              <a:t>-34.8%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6384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Rod String Fatigue &amp; Peak Polish Rod Load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35204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ABB8"/>
                </a:solidFill>
              </a:rPr>
              <a:t>Real-time SPM regulation mitigates dynamic fluid pound and rod stretch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92240" y="402336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182030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4114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00"/>
                </a:solidFill>
              </a:rPr>
              <a:t>2.0 Hz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863840" y="4114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Real-Time SCADA Telemetry Streaming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4480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ABB8"/>
                </a:solidFill>
              </a:rPr>
              <a:t>Sub-second sensor streaming with Web Audio acoustic alarm triggers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92240" y="498348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182030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50749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00"/>
                </a:solidFill>
              </a:rPr>
              <a:t>100%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863840" y="5074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Closed-Loop AI Scenario Calculations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5440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ABB8"/>
                </a:solidFill>
              </a:rPr>
              <a:t>Conversational copilot calculates what-if scenarios &amp; executes parameter dispatches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3291840" cy="274320"/>
          </a:xfrm>
          <a:prstGeom prst="roundRect">
            <a:avLst>
              <a:gd name="adj" fmla="val 26667"/>
            </a:avLst>
          </a:prstGeom>
          <a:solidFill>
            <a:srgbClr val="24160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726"/>
                </a:solidFill>
              </a:rPr>
              <a:t>⚙  ENGINEERING BACKGROUND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Introduction: Heavy Oil Physics &amp; Operational Realities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23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492240"/>
            <a:ext cx="10728655" cy="0"/>
          </a:xfrm>
          <a:prstGeom prst="line">
            <a:avLst/>
          </a:prstGeom>
          <a:noFill/>
          <a:ln w="12700">
            <a:solidFill>
              <a:srgbClr val="1A2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WELLORA™ SCADA Digital Twin | Heavy Crude Oil (17.5° API) AI Optimization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121722"/>
          </a:solidFill>
          <a:ln w="1524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45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00"/>
                </a:solidFill>
              </a:rPr>
              <a:t>1. Heavy Oil Physics (17.5° API)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asphaltic and paraffin content yields heavy specific gravity (0.95 g/cm³).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971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Cold reservoir conditions create near-solid tar-like behavior with zero natural flow.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Viscosity is exponentially temperature-dependent: cooling causes immediate wellbore plugging.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70832" y="146304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121722"/>
          </a:solidFill>
          <a:ln w="15240">
            <a:solidFill>
              <a:srgbClr val="FFA7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1645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726"/>
                </a:solidFill>
              </a:rPr>
              <a:t>2. Cyclic Steam Stimulation (CSS)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53712" y="21945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Three-stage "Huff-and-Puff" EOR cycle: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2971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• Injection: Superheated steam (260°C, 15 MPa) injected into the formation (10-15 days).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7490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• Soaking: Well shut-in for thermal conduction and matrix soaking (5-7 days).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53712" y="45262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• Production: Heavy crude pumped out as viscosity plummets from 3,500 to 12 cP.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10144" y="146304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121722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93024" y="1645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3. Sucker Rod Pump (SRP) Challenges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93024" y="21945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Reciprocating beam pump lifts viscous fluid through 1,200m+ depth.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93024" y="2971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Excessive viscosity increases downhole buoyancy, causing delayed rod fall and fluid pound.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93024" y="37490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Requires dynamic surface dynamometer cards to diagnose pump fillage and valve leaks.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3291840" cy="274320"/>
          </a:xfrm>
          <a:prstGeom prst="roundRect">
            <a:avLst>
              <a:gd name="adj" fmla="val 26667"/>
            </a:avLst>
          </a:prstGeom>
          <a:solidFill>
            <a:srgbClr val="24160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726"/>
                </a:solidFill>
              </a:rPr>
              <a:t>⚙  SYSTEM FORMULATION &amp; TRAINING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Details about the Training: Physics Calibration &amp; AI Models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23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492240"/>
            <a:ext cx="10728655" cy="0"/>
          </a:xfrm>
          <a:prstGeom prst="line">
            <a:avLst/>
          </a:prstGeom>
          <a:noFill/>
          <a:ln w="12700">
            <a:solidFill>
              <a:srgbClr val="1A2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WELLORA™ SCADA Digital Twin | Heavy Crude Oil (17.5° API) AI Optimization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2172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600200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24160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6002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00"/>
                </a:solidFill>
              </a:rPr>
              <a:t>THERMODYNAMICS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17520" y="1600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Andrade Thermal Model Calibration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19659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Trained and calibrated using heavy crude empirical PVT laboratory data. Formulated the two-parameter Andrade exponential viscosity relationship: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ln(μ) = ln(A) + B / (T + 273.15)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Calibrated Parameters: A = 0.0125 cP, B = 1850 K for 17.5° API crude.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4630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2172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600200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24160E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6002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726"/>
                </a:solidFill>
              </a:rPr>
              <a:t>HEAT TRANSFER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58200" y="1600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CSS Reservoir Heat Decay 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19659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Modelled 1D radial thermal diffusion and reservoir cooling: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∂T/∂t = α·∇²T - (ρ_f·c_f / ρ_m·c_m)·v·∇T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Simulates 90-day temperature decay from 260°C down to 45°C, governing production rate decline and optimal re-steaming trigger.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38862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2172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023360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24160E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023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</a:rPr>
              <a:t>MECHANICAL DYNAMICS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017520" y="4023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Sucker Rod Wave Dynamics (API RP 11L)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38912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Trained on damped 1D wave equation for elastic rod strings: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∂²u/∂t² = a²·(∂²u/∂x²) - c·(∂u/∂t)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Calculates Peak Polish Rod Load (PPRL), Minimum Polish Rod Load (MPRL), and Fourier harmonic dynamometer surface vs pump cards.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38862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21722"/>
          </a:solidFill>
          <a:ln w="12700">
            <a:solidFill>
              <a:srgbClr val="2E3D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4023360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24160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023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676"/>
                </a:solidFill>
              </a:rPr>
              <a:t>AI COPILOT TRAINING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4023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Conversational AI Intent &amp; Physics Engine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438912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Trained on heavy oil operational ontology, SCADA state parsing, and dynamic what-if simulation.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Parses natural language queries, extracts numeric parameters (SPM, steam temp, depth), executes physics formulas, and generates technical recommendations.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3291840" cy="274320"/>
          </a:xfrm>
          <a:prstGeom prst="roundRect">
            <a:avLst>
              <a:gd name="adj" fmla="val 26667"/>
            </a:avLst>
          </a:prstGeom>
          <a:solidFill>
            <a:srgbClr val="24160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726"/>
                </a:solidFill>
              </a:rPr>
              <a:t>⚙  SYSTEM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Description: Architecture &amp; System Modules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23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492240"/>
            <a:ext cx="10728655" cy="0"/>
          </a:xfrm>
          <a:prstGeom prst="line">
            <a:avLst/>
          </a:prstGeom>
          <a:noFill/>
          <a:ln w="12700">
            <a:solidFill>
              <a:srgbClr val="1A2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WELLORA™ SCADA Digital Twin | Heavy Crude Oil (17.5° API) AI Optimization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21722"/>
          </a:solidFill>
          <a:ln w="12700">
            <a:solidFill>
              <a:srgbClr val="2A36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00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00"/>
                </a:solidFill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1627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Real-Time SCADA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0574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Simulates 2 Hz field sensor telemetry for 4 production wells: Wellhead Pressure, Motor Current, Polished Rod Load, Flowrate, and Bottomhole Temp with live Web Audio acoustic alarms.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70832" y="146304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21722"/>
          </a:solidFill>
          <a:ln w="12700">
            <a:solidFill>
              <a:srgbClr val="2A36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1600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00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02352" y="1627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Dual-Physics Digital Twin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53712" y="20574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Couples reservoir thermodynamics with mechanical rod kinematics. Solves Andrade viscosity, thermal decay, and elastic rod stretch to determine actual operating points.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10144" y="146304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21722"/>
          </a:solidFill>
          <a:ln w="12700">
            <a:solidFill>
              <a:srgbClr val="2A36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3024" y="1600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00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41664" y="1627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Oscilloscope &amp; P&amp;ID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93024" y="20574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dual-channel signal oscilloscope plotting real-time motor current and polish rod load, paired with interactive synoptic P&amp;ID fluid animation.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38862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21722"/>
          </a:solidFill>
          <a:ln w="12700">
            <a:solidFill>
              <a:srgbClr val="2A36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23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00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40507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Laser Tracing Dynamometer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4805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surface and downhole dynamometer card renderer with laser tracing beam, real-time Fourier harmonics, and mechanical anomaly detection (fluid pound, gas lock).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70832" y="38862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21722"/>
          </a:solidFill>
          <a:ln w="12700">
            <a:solidFill>
              <a:srgbClr val="2A36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4023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00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02352" y="40507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Interactive What-If Simulation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53712" y="44805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 sliders for Steam Injection Temp, Soak Duration, Pumping Speed (SPM), and Stroke Length with instant recalculation of daily production and power consumption.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10144" y="38862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21722"/>
          </a:solidFill>
          <a:ln w="12700">
            <a:solidFill>
              <a:srgbClr val="2A36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93024" y="4023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00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741664" y="40507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Conversational SCADA Copilot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93024" y="44805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Open-ended intelligent copilot answering freeform engineering questions, diagnosing SCADA anomalies, and executing dynamic parameter dispatching.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3291840" cy="274320"/>
          </a:xfrm>
          <a:prstGeom prst="roundRect">
            <a:avLst>
              <a:gd name="adj" fmla="val 26667"/>
            </a:avLst>
          </a:prstGeom>
          <a:solidFill>
            <a:srgbClr val="24160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726"/>
                </a:solidFill>
              </a:rPr>
              <a:t>⚙  SPECIFICATIONS &amp; TECH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and Software Requirements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23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492240"/>
            <a:ext cx="10728655" cy="0"/>
          </a:xfrm>
          <a:prstGeom prst="line">
            <a:avLst/>
          </a:prstGeom>
          <a:noFill/>
          <a:ln w="12700">
            <a:solidFill>
              <a:srgbClr val="1A2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WELLORA™ SCADA Digital Twin | Heavy Crude Oil (17.5° API) AI Optimization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21722"/>
          </a:solidFill>
          <a:ln w="12700">
            <a:solidFill>
              <a:srgbClr val="232E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00"/>
                </a:solidFill>
              </a:rPr>
              <a:t>HARDWARE REQUIREMENTS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•  Processor (CPU):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23317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</a:rPr>
              <a:t>   Intel Core i5 / AMD Ryzen 5 or higher (Multi-core for real-time physics ODE solving)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05840" y="28803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•  System Memory (RAM):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3108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</a:rPr>
              <a:t>   8 GB minimum (16 GB recommended for multi-well telemetry streaming)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•  Display &amp; Graphics: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5840" y="38862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</a:rPr>
              <a:t>   1920×1080 FHD resolution; WebGL/Canvas 2D accelerated GPU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05840" y="44348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•  Field IoT / RTU Gateway: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5840" y="46634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</a:rPr>
              <a:t>   ARM Cortex-A53 / Raspberry Pi 4 / Moxa Industrial Gateway for edge field deployment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05840" y="52120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•  Network &amp; SCADA Bus: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54406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</a:rPr>
              <a:t>   Ethernet / Modbus TCP / OPC-UA with &lt;50ms low latency for telemetry stream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21722"/>
          </a:solidFill>
          <a:ln w="12700">
            <a:solidFill>
              <a:srgbClr val="232E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SOFTWARE &amp; RUNTIME STACK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21031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•  Frontend Framework: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0" y="23317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</a:rPr>
              <a:t>   React 18.3 + TypeScript (Strict Type Safety, Modular Component Architecture)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28803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•  Styling &amp; Theming: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0" y="3108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</a:rPr>
              <a:t>   Tailwind CSS + Custom Cyber-Orange SCADA Glassmorphism Design System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92240" y="36576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•  Visualization Engines: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92240" y="38862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</a:rPr>
              <a:t>   Lucide React Icons, HTML5 Canvas 2D API (Laser Tracing &amp; Oscilloscope)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92240" y="44348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•  Acoustic Synthesizer: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46634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</a:rPr>
              <a:t>   Web Audio API (Custom frequency sound waves for critical SCADA alarms)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92240" y="52120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•  Runtime &amp; Build Tools: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92240" y="54406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</a:rPr>
              <a:t>   Node.js v24+, Vite 5.x Bundler, Vercel Production Cloud Hosting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3291840" cy="274320"/>
          </a:xfrm>
          <a:prstGeom prst="roundRect">
            <a:avLst>
              <a:gd name="adj" fmla="val 26667"/>
            </a:avLst>
          </a:prstGeom>
          <a:solidFill>
            <a:srgbClr val="24160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726"/>
                </a:solidFill>
              </a:rPr>
              <a:t>⚙  USER INTERFACE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Design: SCADA Cyber-Orange Telemetry Dashboard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23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492240"/>
            <a:ext cx="10728655" cy="0"/>
          </a:xfrm>
          <a:prstGeom prst="line">
            <a:avLst/>
          </a:prstGeom>
          <a:noFill/>
          <a:ln w="12700">
            <a:solidFill>
              <a:srgbClr val="1A2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WELLORA™ SCADA Digital Twin | Heavy Crude Oil (17.5° API) AI Optimization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ABB8"/>
                </a:solidFill>
              </a:rPr>
              <a:t>Comprehensive SCADA control room view featuring Multi-Well field matrix, live telemetry KPI cards, and cycle stepper.</a:t>
            </a:r>
            <a:endParaRPr lang="en-US" sz="1100" dirty="0"/>
          </a:p>
        </p:txBody>
      </p:sp>
      <p:pic>
        <p:nvPicPr>
          <p:cNvPr id="11" name="Image 0" descr="C:\Users\MITHESH D\.gemini\antigravity-ide\brain\14e63401-9d19-4aa9-8024-e9c8c66482db\orange_black_dashboard_17893583491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7315200" cy="44348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229600" y="1783080"/>
            <a:ext cx="3200400" cy="4434840"/>
          </a:xfrm>
          <a:prstGeom prst="roundRect">
            <a:avLst>
              <a:gd name="adj" fmla="val 2857"/>
            </a:avLst>
          </a:prstGeom>
          <a:solidFill>
            <a:srgbClr val="121722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0" y="1965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DASHBOARD FEATURES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12480" y="233172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Cyber-Orange &amp; Jet-Black theme designed for 24/7 control room readability.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412480" y="324612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4-Well Field Matrix (OR-101 to OR-104) with independent production stages.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412480" y="416052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Real-time telemetry indicators for Oil Flow, Viscosity, Rod Load, and Steam Enthalpy.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412480" y="507492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🎛 Quick Action Dispatcher: Emergency Shutdown, Steam Optimization, AI Auto-Tune.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3291840" cy="274320"/>
          </a:xfrm>
          <a:prstGeom prst="roundRect">
            <a:avLst>
              <a:gd name="adj" fmla="val 26667"/>
            </a:avLst>
          </a:prstGeom>
          <a:solidFill>
            <a:srgbClr val="24160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726"/>
                </a:solidFill>
              </a:rPr>
              <a:t>⚙  REAL-TIME SIGNAL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Design: Live Oscilloscope &amp; Dynamometer Visualizer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23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492240"/>
            <a:ext cx="10728655" cy="0"/>
          </a:xfrm>
          <a:prstGeom prst="line">
            <a:avLst/>
          </a:prstGeom>
          <a:noFill/>
          <a:ln w="12700">
            <a:solidFill>
              <a:srgbClr val="1A2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WELLORA™ SCADA Digital Twin | Heavy Crude Oil (17.5° API) AI Optimization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21722"/>
          </a:solidFill>
          <a:ln w="12700">
            <a:solidFill>
              <a:srgbClr val="232E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REAL-TIME SIGNAL OSCILLOSCOPE (2 Hz)</a:t>
            </a:r>
            <a:endParaRPr lang="en-US" sz="1100" dirty="0"/>
          </a:p>
        </p:txBody>
      </p:sp>
      <p:pic>
        <p:nvPicPr>
          <p:cNvPr id="12" name="Image 0" descr="C:\Users\MITHESH D\.gemini\antigravity-ide\brain\14e63401-9d19-4aa9-8024-e9c8c66482db\live_waveform_orange_17893583710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4846320" cy="2743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48920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</a:rPr>
              <a:t>Dual-channel oscilloscope visualizes Polish Rod Load (orange trace) and Motor Current (cyan trace) in real-time with continuous phosphor decay effect.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21722"/>
          </a:solidFill>
          <a:ln w="12700">
            <a:solidFill>
              <a:srgbClr val="232E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LASER TRACING DYNAMOMETER CARD</a:t>
            </a:r>
            <a:endParaRPr lang="en-US" sz="1100" dirty="0"/>
          </a:p>
        </p:txBody>
      </p:sp>
      <p:pic>
        <p:nvPicPr>
          <p:cNvPr id="16" name="Image 1" descr="C:\Users\MITHESH D\.gemini\antigravity-ide\brain\14e63401-9d19-4aa9-8024-e9c8c66482db\dynamometer_orange_178935839585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2743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0" y="48920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</a:rPr>
              <a:t>Closed-loop dynamometer comparing Surface Polish Rod Card vs Downhole Pump Card with real-time beam position indicator and fluid fillage diagnosis.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3291840" cy="274320"/>
          </a:xfrm>
          <a:prstGeom prst="roundRect">
            <a:avLst>
              <a:gd name="adj" fmla="val 26667"/>
            </a:avLst>
          </a:prstGeom>
          <a:solidFill>
            <a:srgbClr val="24160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726"/>
                </a:solidFill>
              </a:rPr>
              <a:t>⚙  CORE PHYSICS ALGORITHMS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Coding: Andrade Viscosity &amp; Thermal ODE Solver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23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492240"/>
            <a:ext cx="10728655" cy="0"/>
          </a:xfrm>
          <a:prstGeom prst="line">
            <a:avLst/>
          </a:prstGeom>
          <a:noFill/>
          <a:ln w="12700">
            <a:solidFill>
              <a:srgbClr val="1A2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WELLORA™ SCADA Digital Twin | Heavy Crude Oil (17.5° API) AI Optimization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09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6858000" cy="4754880"/>
          </a:xfrm>
          <a:prstGeom prst="roundRect">
            <a:avLst>
              <a:gd name="adj" fmla="val 1923"/>
            </a:avLst>
          </a:prstGeom>
          <a:solidFill>
            <a:srgbClr val="080A0F"/>
          </a:solidFill>
          <a:ln w="15240">
            <a:solidFill>
              <a:srgbClr val="232E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00200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src/services/physicsEngine.ts - Andrade Viscosity &amp; Heat Dissipation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87452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Andrade Exponential Thermal Viscosity Model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calculateViscosity(tempCelsius: number, apiGravity: number = 17.5): number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Calibration: A = 0.0125 cP, B = 1850 K for 17.5° API crude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T_kelvin = tempCelsius + 273.15;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 = 0.0125;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 = 1850;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Viscosity (cP) follows Andrade logarithmic relation: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viscosity = A * Math.exp(B / T_kelvin);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Math.max(1.0, parseFloat(viscosity.toFixed(2)));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Cyclic Steam Stimulation (CSS) 90-Day Thermal Dissipation ODE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calculateCycleState(dayOfCycle: number, steamTemp: number = 260)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(dayOfCycle &lt;= 12)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Stage 1: Steam Injection (260°C - superheated steam)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stage: 'INJECTION', temp: steamTemp, viscosity: calculateViscosity(steamTemp) };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if (dayOfCycle &lt;= 18)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Stage 2: Reservoir Heat Soaking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soakProgress = (dayOfCycle - 12) / 6;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temp = steamTemp - (soakProgress * 25);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stage: 'SOAKING', temp, viscosity: calculateViscosity(temp) };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Stage 3: Production with Exponential Heat Loss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prodDays = dayOfCycle - 18;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decayConstant = 0.038; // formation heat loss rate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temp = 45 + (steamTemp - 70) * Math.exp(-decayConstant * prodDays);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stage: 'PRODUCTION', temp, viscosity: calculateViscosity(temp) };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772400" y="146304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121722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645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MATHEMATICAL EXPLANATION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55280" y="20574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Andrade Viscosity: Accurately represents the 300x viscosity reduction from cold reservoir (28°C: ~3,800 cP) to steamed temperature (260°C: ~12.8 cP).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55280" y="33375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3-Stage CSS Simulation: Automatically transitions between Injection (12d), Soaking (6d), and Production (72d).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55280" y="46177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Formation Thermal Decay: Simulates thermal conduction loss into surrounding shale caprock using calibrated ODE exponential decay.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3291840" cy="274320"/>
          </a:xfrm>
          <a:prstGeom prst="roundRect">
            <a:avLst>
              <a:gd name="adj" fmla="val 26667"/>
            </a:avLst>
          </a:prstGeom>
          <a:solidFill>
            <a:srgbClr val="24160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726"/>
                </a:solidFill>
              </a:rPr>
              <a:t>⚙  ROD STRING KINEMATICS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Coding: Sucker Rod Mechanics &amp; Wave Equation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23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492240"/>
            <a:ext cx="10728655" cy="0"/>
          </a:xfrm>
          <a:prstGeom prst="line">
            <a:avLst/>
          </a:prstGeom>
          <a:noFill/>
          <a:ln w="12700">
            <a:solidFill>
              <a:srgbClr val="1A2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WELLORA™ SCADA Digital Twin | Heavy Crude Oil (17.5° API) AI Optimization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6858000" cy="4754880"/>
          </a:xfrm>
          <a:prstGeom prst="roundRect">
            <a:avLst>
              <a:gd name="adj" fmla="val 1923"/>
            </a:avLst>
          </a:prstGeom>
          <a:solidFill>
            <a:srgbClr val="080A0F"/>
          </a:solidFill>
          <a:ln w="15240">
            <a:solidFill>
              <a:srgbClr val="232E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00200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src/services/physicsEngine.ts - Sucker Rod Kinematics &amp; Wave Card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87452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Sucker Rod Pump Mechanical Dynamic Modeling (API RP 11L)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calculateSRPMechanics(spm: number, strokeInches: number, depthMeters: number, viscosity: number)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strokeFeet = strokeInches / 12;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pumpDisplacementBPD = 0.1166 * Math.pow(2.25, 2) * strokeInches * spm;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Fluid Viscous Drag Force (Stokes &amp; Darcy Pipe Flow)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fluidDragFactor = 1 + (viscosity / 500) * 0.45;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Peak Polish Rod Load (PPRL) Calculation (lbs)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rodWeightInFluid = depthMeters * 3.28084 * 1.85 * (1 - (0.95 / 7.85));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accelerationFactor = (strokeInches * Math.pow(spm, 2)) / 70500;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pprl = (rodWeightInFluid + (pumpDisplacementBPD * 1.15)) * (1 + accelerationFactor) * fluidDragFactor;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Minimum Polish Rod Load (MPRL) on Downstroke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mprl = Math.max(1200, rodWeightInFluid * (1 - accelerationFactor) / fluidDragFactor);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Stress Analysis &amp; Motor Power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rodStressPsi = pprl / (Math.PI * Math.pow(0.875 / 2, 2)); // 7/8" rod string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motorHPEstimate = (pprl * strokeFeet * spm) / 33000 * 1.45;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pprl: Math.round(pprl), mprl: Math.round(mprl), rodStressPsi: Math.round(rodStressPsi), motorHPEstimate: parseFloat(motorHPEstimate.toFixed(1)) };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72400" y="146304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1217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645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KINEMATICS EXPLANATION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55280" y="20574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API RP 11L Compliance: Standardized rod acceleration factor $(S·N^2)/70500$ ensures accurate dynamic peak load calculations.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55280" y="33375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Viscous Drag Coupling: Incorporates fluid drag factor that spikes when viscosity increases, preventing rod buckling and valve hang-up.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55280" y="46177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Stress Monitoring: Continuously computes Rod Stress (PSI) against maximum allowable working stress (30,000 PSI).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3291840" cy="274320"/>
          </a:xfrm>
          <a:prstGeom prst="roundRect">
            <a:avLst>
              <a:gd name="adj" fmla="val 26667"/>
            </a:avLst>
          </a:prstGeom>
          <a:solidFill>
            <a:srgbClr val="24160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726"/>
                </a:solidFill>
              </a:rPr>
              <a:t>⚙  SCADA TELEMETRY &amp; AUDIO SYNTHESIS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Coding: Real-Time SCADA Stream &amp; Audio Alarms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23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492240"/>
            <a:ext cx="10728655" cy="0"/>
          </a:xfrm>
          <a:prstGeom prst="line">
            <a:avLst/>
          </a:prstGeom>
          <a:noFill/>
          <a:ln w="12700">
            <a:solidFill>
              <a:srgbClr val="1A2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WELLORA™ SCADA Digital Twin | Heavy Crude Oil (17.5° API) AI Optimization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6858000" cy="4754880"/>
          </a:xfrm>
          <a:prstGeom prst="roundRect">
            <a:avLst>
              <a:gd name="adj" fmla="val 1923"/>
            </a:avLst>
          </a:prstGeom>
          <a:solidFill>
            <a:srgbClr val="080A0F"/>
          </a:solidFill>
          <a:ln w="15240">
            <a:solidFill>
              <a:srgbClr val="232E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00200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src/services/realtimeStreamEngine.ts - 2Hz Telemetry &amp; Sound Chimes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87452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Web Audio API Acoustic Sound Synthesizer (No external MP3 required)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playAlarmChime(frequency = 880, type = 'sine')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ctx = new (window.AudioContext || (window as any).webkitAudioContext)();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osc = ctx.createOscillator();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gain = ctx.createGain();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osc.type = type as OscillatorType;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osc.frequency.setValueAtTime(frequency, ctx.currentTime);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gain.gain.setValueAtTime(0.15, ctx.currentTime);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gain.gain.exponentialRampToValueAtTime(0.001, ctx.currentTime + 0.35);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osc.connect(gain);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gain.connect(ctx.destination);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osc.start();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osc.stop(ctx.currentTime + 0.35);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(e) { /* Audio fallback */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2.0 Hz Real-Time Telemetry Stream Generator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startTelemetryStream(onData: (snapshot: ScadaTelemetrySnapshot) =&gt; void)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interval = setInterval(() =&gt;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tickCount++;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noise = (Math.random() - 0.5) * 2;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telemetry =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timestamp: Date.now(),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wellheadPressure: 14.8 + noise * 0.3,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motorCurrent: 38.5 + Math.sin(tickCount * 0.4) * 4.2 + noise * 0.5,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polishRodLoad: 18500 + Math.sin(tickCount * 0.4) * 3500 + noise * 200,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flowRate: 312.4 + noise * 4.0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onData(telemetry);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500); // 500ms = 2.0 Hz sampling rate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() =&gt; clearInterval(interval);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72400" y="146304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12172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645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SCADA STREAM EXPLANATION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55280" y="20574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 Hz Industrial Sampling: Updates telemetry points every 500ms, providing true SCADA responsiveness without browser lag.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55280" y="33375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Native Web Audio Synthesis: Generates dynamic acoustic multi-tone chimes (880 Hz warning, 440 Hz info) directly via browser audio nodes.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55280" y="46177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Gaussian Noise &amp; Sine Waves: Simulates authentic field sensor micro-jitter and cyclic beam pump reciprocation.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3291840" cy="274320"/>
          </a:xfrm>
          <a:prstGeom prst="roundRect">
            <a:avLst>
              <a:gd name="adj" fmla="val 26667"/>
            </a:avLst>
          </a:prstGeom>
          <a:solidFill>
            <a:srgbClr val="24160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726"/>
                </a:solidFill>
              </a:rPr>
              <a:t>⚙  AI NATURAL LANGUAGE &amp; SCENARIO ENGINE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Coding: Conversational AI Copilot Engine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23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492240"/>
            <a:ext cx="10728655" cy="0"/>
          </a:xfrm>
          <a:prstGeom prst="line">
            <a:avLst/>
          </a:prstGeom>
          <a:noFill/>
          <a:ln w="12700">
            <a:solidFill>
              <a:srgbClr val="1A2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WELLORA™ SCADA Digital Twin | Heavy Crude Oil (17.5° API) AI Optimization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6858000" cy="4754880"/>
          </a:xfrm>
          <a:prstGeom prst="roundRect">
            <a:avLst>
              <a:gd name="adj" fmla="val 1923"/>
            </a:avLst>
          </a:prstGeom>
          <a:solidFill>
            <a:srgbClr val="080A0F"/>
          </a:solidFill>
          <a:ln w="15240">
            <a:solidFill>
              <a:srgbClr val="232E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00200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7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src/services/aiAdvisorService.ts - Natural Language &amp; Physics Dispatch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87452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Dynamic Physics-Grounded Conversational AI Engine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getAiCopilotResponse(query: string, ctx: WelloraState): Promise&lt;AiCopilotMessage&gt;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q = query.toLowerCase();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1. Dynamic Parameter Modification &amp; Scenario Dispatch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spmMatch = q.match(/(\d+(\.\d+)?)\s*spm/i);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(spmMatch)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targetSpm = parseFloat(spmMatch[1]);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simulatedState = calculateSRPMechanics(targetSpm, ctx.strokeLength, ctx.wellDepth, ctx.viscosity);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text: `⚡ Recalculated for ${targetSpm} SPM: Peak Polish Rod Load adjusts to ${simulatedState.pprl.toLocaleString()} lbs with ${simulatedState.motorHPEstimate} HP.`,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action: { type: 'SET_SPM', value: targetSpm 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confidence: 0.98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2. Heavy Oil Domain Ontology &amp; Thermal Recommendations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(q.includes('steam') || q.includes('viscosity') || q.includes('temperature'))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recTemp = ctx.viscosity &gt; 500 ? 280 : 240;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text: `🔥 Current crude viscosity is ${ctx.viscosity} cP at ${ctx.bottomHoleTemp}°C. Optimal Andrade transition requires heating above 180°C.`,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action: { type: 'OPTIMIZE_STEAM', value: recTemp 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confidence: 0.95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3. Open-Ended Technical Guidance Fallback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generateTechnicalExplanation(query, ctx);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72400" y="146304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121722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645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AI COPILOT EXPLANATION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55280" y="20574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Conversational &amp; Non-Restricted: Answers freeform questions about oil mechanics, SCADA telemetry, and engineering equations.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55280" y="33375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Physics-Grounded Responses: Evaluates queries against live reservoir parameters rather than returning static templates.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55280" y="46177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Dispatch Buttons: Returns clickable actions that automatically update digital twin sliders and SCADA setpoints.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3291840" cy="274320"/>
          </a:xfrm>
          <a:prstGeom prst="roundRect">
            <a:avLst>
              <a:gd name="adj" fmla="val 26667"/>
            </a:avLst>
          </a:prstGeom>
          <a:solidFill>
            <a:srgbClr val="24160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726"/>
                </a:solidFill>
              </a:rPr>
              <a:t>⚙  APPLICATION OUTPUTS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Screenshots: SCADA Live Operational Suite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23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492240"/>
            <a:ext cx="10728655" cy="0"/>
          </a:xfrm>
          <a:prstGeom prst="line">
            <a:avLst/>
          </a:prstGeom>
          <a:noFill/>
          <a:ln w="12700">
            <a:solidFill>
              <a:srgbClr val="1A2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WELLORA™ SCADA Digital Twin | Heavy Crude Oil (17.5° API) AI Optimization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21722"/>
          </a:solidFill>
          <a:ln w="12700">
            <a:solidFill>
              <a:srgbClr val="232E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PRODUCTION SCADA CONTROL GRID</a:t>
            </a:r>
            <a:endParaRPr lang="en-US" sz="1100" dirty="0"/>
          </a:p>
        </p:txBody>
      </p:sp>
      <p:pic>
        <p:nvPicPr>
          <p:cNvPr id="12" name="Image 0" descr="C:\Users\MITHESH D\.gemini\antigravity-ide\brain\14e63401-9d19-4aa9-8024-e9c8c66482db\final_dashboard_orange_black_17893584902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4846320" cy="2743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48920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</a:rPr>
              <a:t>Complete SCADA dashboard displaying active alarms, multi-well telemetry, live oscilloscopes, and dynamometer loops simultaneously.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21722"/>
          </a:solidFill>
          <a:ln w="12700">
            <a:solidFill>
              <a:srgbClr val="232E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P&amp;ID SYNOPTIC FLOW &amp; THERMAL ISOTHERMS</a:t>
            </a:r>
            <a:endParaRPr lang="en-US" sz="1100" dirty="0"/>
          </a:p>
        </p:txBody>
      </p:sp>
      <p:pic>
        <p:nvPicPr>
          <p:cNvPr id="16" name="Image 1" descr="C:\Users\MITHESH D\.gemini\antigravity-ide\brain\14e63401-9d19-4aa9-8024-e9c8c66482db\pid_synoptic_view_17893563683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2743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0" y="48920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</a:rPr>
              <a:t>Subsurface 3D visualizer rendering animated steam injection paths, reservoir thermal isotherms, and walking beam mechanical reciprocation.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3291840" cy="274320"/>
          </a:xfrm>
          <a:prstGeom prst="roundRect">
            <a:avLst>
              <a:gd name="adj" fmla="val 26667"/>
            </a:avLst>
          </a:prstGeom>
          <a:solidFill>
            <a:srgbClr val="24160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726"/>
                </a:solidFill>
              </a:rPr>
              <a:t>⚙  AI INTERACTION OUTPUTS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Screenshots: Conversational AI Copilot in Action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23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492240"/>
            <a:ext cx="10728655" cy="0"/>
          </a:xfrm>
          <a:prstGeom prst="line">
            <a:avLst/>
          </a:prstGeom>
          <a:noFill/>
          <a:ln w="12700">
            <a:solidFill>
              <a:srgbClr val="1A2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WELLORA™ SCADA Digital Twin | Heavy Crude Oil (17.5° API) AI Optimization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21722"/>
          </a:solidFill>
          <a:ln w="12700">
            <a:solidFill>
              <a:srgbClr val="232E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726"/>
                </a:solidFill>
              </a:rPr>
              <a:t>FREEFORM AI CHAT INTERACTION</a:t>
            </a:r>
            <a:endParaRPr lang="en-US" sz="1100" dirty="0"/>
          </a:p>
        </p:txBody>
      </p:sp>
      <p:pic>
        <p:nvPicPr>
          <p:cNvPr id="12" name="Image 0" descr="C:\Users\MITHESH D\.gemini\antigravity-ide\brain\14e63401-9d19-4aa9-8024-e9c8c66482db\scada_ai_copilot_chat_17893590310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4846320" cy="2743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48920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</a:rPr>
              <a:t>AI Copilot answering complex, freeform technical questions regarding Andrade viscosity equations and thermal soaking strategies.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1923"/>
            </a:avLst>
          </a:prstGeom>
          <a:solidFill>
            <a:srgbClr val="121722"/>
          </a:solidFill>
          <a:ln w="12700">
            <a:solidFill>
              <a:srgbClr val="232E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</a:rPr>
              <a:t>WHAT-IF SCENARIO ACTION DISPATCH</a:t>
            </a:r>
            <a:endParaRPr lang="en-US" sz="1100" dirty="0"/>
          </a:p>
        </p:txBody>
      </p:sp>
      <p:pic>
        <p:nvPicPr>
          <p:cNvPr id="16" name="Image 1" descr="C:\Users\MITHESH D\.gemini\antigravity-ide\brain\14e63401-9d19-4aa9-8024-e9c8c66482db\ai_copilot_dispatch_orange_17893584448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2743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0" y="48920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</a:rPr>
              <a:t>Operator clicking direct "Apply 6.5 SPM Setpoint" action button from AI advice, immediately updating physics simulations and SCADA alarms.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3291840" cy="274320"/>
          </a:xfrm>
          <a:prstGeom prst="roundRect">
            <a:avLst>
              <a:gd name="adj" fmla="val 26667"/>
            </a:avLst>
          </a:prstGeom>
          <a:solidFill>
            <a:srgbClr val="24160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726"/>
                </a:solidFill>
              </a:rPr>
              <a:t>⚙  PROJECT 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Conclusion: Achievements &amp; Engineering Value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23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492240"/>
            <a:ext cx="10728655" cy="0"/>
          </a:xfrm>
          <a:prstGeom prst="line">
            <a:avLst/>
          </a:prstGeom>
          <a:noFill/>
          <a:ln w="12700">
            <a:solidFill>
              <a:srgbClr val="1A2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WELLORA™ SCADA Digital Twin | Heavy Crude Oil (17.5° API) AI Optimization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21722"/>
          </a:solidFill>
          <a:ln w="1524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00"/>
                </a:solidFill>
              </a:rPr>
              <a:t>✔  Dual-Physics Digital Twin Realized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Successfully unified Andrade thermodynamic viscosity models with Sucker Rod Pump mechanical wave dynamics into a single cohesive SCADA digital twin.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4630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21722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✔  Real-Time SCADA Telemetry &amp; Alarm Matrix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1031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Engineered a 2 Hz streaming engine and native Web Audio acoustic synthesizer, delivering instant situational awareness for heavy crude operators.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21722"/>
          </a:solidFill>
          <a:ln w="15240">
            <a:solidFill>
              <a:srgbClr val="00E6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069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</a:rPr>
              <a:t>✔  Intelligent Conversational Copilot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52628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Implemented an open-ended conversational AI Copilot capable of solving on-the-fly what-if scenarios and dispatching setpoint optimizations directly to the digital twin.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21722"/>
          </a:solidFill>
          <a:ln w="15240">
            <a:solidFill>
              <a:srgbClr val="FFA7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069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726"/>
                </a:solidFill>
              </a:rPr>
              <a:t>✔  Measurable Field Optimization Potential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452628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Simulations demonstrate a +28.4% improvement in steam thermal efficiency and a -34.8% reduction in rod fatigue cycles, saving equipment wear and energy costs.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3291840" cy="274320"/>
          </a:xfrm>
          <a:prstGeom prst="roundRect">
            <a:avLst>
              <a:gd name="adj" fmla="val 26667"/>
            </a:avLst>
          </a:prstGeom>
          <a:solidFill>
            <a:srgbClr val="24160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726"/>
                </a:solidFill>
              </a:rPr>
              <a:t>⚙  NEXT GENERATION CAPABILITIES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 &amp; Roadmap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23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492240"/>
            <a:ext cx="10728655" cy="0"/>
          </a:xfrm>
          <a:prstGeom prst="line">
            <a:avLst/>
          </a:prstGeom>
          <a:noFill/>
          <a:ln w="12700">
            <a:solidFill>
              <a:srgbClr val="1A2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WELLORA™ SCADA Digital Twin | Heavy Crude Oil (17.5° API) AI Optimization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10728655" cy="1051560"/>
          </a:xfrm>
          <a:prstGeom prst="roundRect">
            <a:avLst>
              <a:gd name="adj" fmla="val 6957"/>
            </a:avLst>
          </a:prstGeom>
          <a:solidFill>
            <a:srgbClr val="121722"/>
          </a:solidFill>
          <a:ln w="12700">
            <a:solidFill>
              <a:srgbClr val="2A36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002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16002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Edge IoT Hardware RTU Bridge (MQTT / OPC-UA)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19385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physical hardware field RTUs via industrial Modbus TCP, MQTT Sparkplug B, and OPC-UA protocols for direct field PLC coupling.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2651760"/>
            <a:ext cx="10728655" cy="1051560"/>
          </a:xfrm>
          <a:prstGeom prst="roundRect">
            <a:avLst>
              <a:gd name="adj" fmla="val 6957"/>
            </a:avLst>
          </a:prstGeom>
          <a:solidFill>
            <a:srgbClr val="121722"/>
          </a:solidFill>
          <a:ln w="12700">
            <a:solidFill>
              <a:srgbClr val="2A36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7889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27889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Physics-Informed Neural Networks (PINN)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312724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PINN surrogate models to solve 3D reservoir thermal diffusion equations in sub-milliseconds on edge embedded accelerators.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10728655" cy="1051560"/>
          </a:xfrm>
          <a:prstGeom prst="roundRect">
            <a:avLst>
              <a:gd name="adj" fmla="val 6957"/>
            </a:avLst>
          </a:prstGeom>
          <a:solidFill>
            <a:srgbClr val="121722"/>
          </a:solidFill>
          <a:ln w="12700">
            <a:solidFill>
              <a:srgbClr val="2A36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97764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54480" y="3977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Autonomous Closed-Loop VFD Control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54480" y="43159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autonomous Variable Frequency Drive (VFD) speed modulation, automatically throttling pump SPM upon detecting fluid pound or gas interference.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5029200"/>
            <a:ext cx="10728655" cy="1051560"/>
          </a:xfrm>
          <a:prstGeom prst="roundRect">
            <a:avLst>
              <a:gd name="adj" fmla="val 6957"/>
            </a:avLst>
          </a:prstGeom>
          <a:solidFill>
            <a:srgbClr val="121722"/>
          </a:solidFill>
          <a:ln w="12700">
            <a:solidFill>
              <a:srgbClr val="2A36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1663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54480" y="51663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Cross-Platform Android / iOS Native SCADA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54480" y="550468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 WELLORA into native Android APK / iOS application with push notifications for critical downhole pressure drop and high rod load alarms.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20040"/>
            <a:ext cx="3291840" cy="274320"/>
          </a:xfrm>
          <a:prstGeom prst="roundRect">
            <a:avLst>
              <a:gd name="adj" fmla="val 26667"/>
            </a:avLst>
          </a:prstGeom>
          <a:solidFill>
            <a:srgbClr val="24160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726"/>
                </a:solidFill>
              </a:rPr>
              <a:t>⚙  BIBLIOGRAPHY &amp; CITATIONS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 &amp; Industry Standards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232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492240"/>
            <a:ext cx="10728655" cy="0"/>
          </a:xfrm>
          <a:prstGeom prst="line">
            <a:avLst/>
          </a:prstGeom>
          <a:noFill/>
          <a:ln w="12700">
            <a:solidFill>
              <a:srgbClr val="1A2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537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WELLORA™ SCADA Digital Twin | Heavy Crude Oil (17.5° API) AI Optimization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10728655" cy="4754880"/>
          </a:xfrm>
          <a:prstGeom prst="roundRect">
            <a:avLst>
              <a:gd name="adj" fmla="val 1923"/>
            </a:avLst>
          </a:prstGeom>
          <a:solidFill>
            <a:srgbClr val="121722"/>
          </a:solidFill>
          <a:ln w="12700">
            <a:solidFill>
              <a:srgbClr val="232E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7373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[1]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173736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American Petroleum Institute (API) RP 11L: "Recommended Practice for Design Calculations for Sucker Rod Pumping Systems (Conventional Units)", 5th Edition.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3591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[2]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235915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Andrade, E. N. da C. (1934): "A Theory of the Viscosity of Liquids", Philosophical Magazine, Series 7, Vol. 17, No. 112, pp. 497-511.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298094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[3]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2980944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Prats, M. (1982): "Thermal Recovery", SPE Monograph Volume 7, Society of Petroleum Engineers, Richardson, TX.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05840" y="360273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[4]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45920" y="3602736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Gibbs, S. G. &amp; Neely, A. B. (1966): "Computer Diagnosis of Down-Hole Conditions in Sucker Rod Pumping Wells", Journal of Petroleum Technology, SPE-1165-PA.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05840" y="42245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[5]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0" y="4224528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Butler, R. M. (1991): "Thermal Recovery of Oil and Bitumen", Prentice Hall, Englewood Cliffs, NJ.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05840" y="48463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[6]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45920" y="48463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Takacs, G. (2015): "Sucker-Rod Pumping Manual", PennWell Books, Tulsa, OK.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05840" y="54681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[7]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45920" y="546811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ISO/IEC 62443: "Industrial communication networks - Network and system security (SCADA / Industrial Automation Control Systems)".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WELLORA Industrial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WELLORA: Dual-Physics Digital Twin &amp; SCADA AI Optimization System</dc:title>
  <dc:subject>PptxGenJS Presentation</dc:subject>
  <dc:creator>Mithesh D</dc:creator>
  <cp:lastModifiedBy>Mithesh D</cp:lastModifiedBy>
  <cp:revision>1</cp:revision>
  <dcterms:created xsi:type="dcterms:W3CDTF">2026-09-14T04:42:08Z</dcterms:created>
  <dcterms:modified xsi:type="dcterms:W3CDTF">2026-09-14T04:42:08Z</dcterms:modified>
</cp:coreProperties>
</file>