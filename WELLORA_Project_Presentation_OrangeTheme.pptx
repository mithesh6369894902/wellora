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FFFFF"/>
          </a:solidFill>
          <a:ln/>
        </p:spPr>
      </p:sp>
      <p:sp>
        <p:nvSpPr>
          <p:cNvPr id="3" name="Shape 1"/>
          <p:cNvSpPr/>
          <p:nvPr/>
        </p:nvSpPr>
        <p:spPr>
          <a:xfrm>
            <a:off x="914400" y="731520"/>
            <a:ext cx="10362895" cy="5303520"/>
          </a:xfrm>
          <a:prstGeom prst="roundRect">
            <a:avLst>
              <a:gd name="adj" fmla="val 2586"/>
            </a:avLst>
          </a:prstGeom>
          <a:solidFill>
            <a:srgbClr val="541804"/>
          </a:solidFill>
          <a:ln w="25400">
            <a:solidFill>
              <a:srgbClr val="FFFFFF"/>
            </a:solidFill>
            <a:prstDash val="solid"/>
          </a:ln>
        </p:spPr>
      </p:sp>
      <p:sp>
        <p:nvSpPr>
          <p:cNvPr id="4" name="Shape 2"/>
          <p:cNvSpPr/>
          <p:nvPr/>
        </p:nvSpPr>
        <p:spPr>
          <a:xfrm>
            <a:off x="1371600" y="1097280"/>
            <a:ext cx="4389120" cy="347472"/>
          </a:xfrm>
          <a:prstGeom prst="roundRect">
            <a:avLst>
              <a:gd name="adj" fmla="val 21053"/>
            </a:avLst>
          </a:prstGeom>
          <a:solidFill>
            <a:srgbClr val="360E02"/>
          </a:solidFill>
          <a:ln w="15240">
            <a:solidFill>
              <a:srgbClr val="FDE047"/>
            </a:solidFill>
            <a:prstDash val="solid"/>
          </a:ln>
        </p:spPr>
      </p:sp>
      <p:sp>
        <p:nvSpPr>
          <p:cNvPr id="5" name="Text 3"/>
          <p:cNvSpPr/>
          <p:nvPr/>
        </p:nvSpPr>
        <p:spPr>
          <a:xfrm>
            <a:off x="1371600" y="1097280"/>
            <a:ext cx="4389120" cy="347472"/>
          </a:xfrm>
          <a:prstGeom prst="rect">
            <a:avLst/>
          </a:prstGeom>
          <a:noFill/>
          <a:ln/>
        </p:spPr>
        <p:txBody>
          <a:bodyPr wrap="square" rtlCol="0" anchor="ctr"/>
          <a:lstStyle/>
          <a:p>
            <a:pPr algn="ctr" indent="0" marL="0">
              <a:buNone/>
            </a:pPr>
            <a:r>
              <a:rPr lang="en-US" sz="950" b="1" dirty="0">
                <a:solidFill>
                  <a:srgbClr val="FDE047"/>
                </a:solidFill>
              </a:rPr>
              <a:t>⚡ DUAL-PHYSICS DIGITAL TWIN &amp; AI OPTIMIZATION</a:t>
            </a:r>
            <a:endParaRPr lang="en-US" sz="950" dirty="0"/>
          </a:p>
        </p:txBody>
      </p:sp>
      <p:sp>
        <p:nvSpPr>
          <p:cNvPr id="6" name="Text 4"/>
          <p:cNvSpPr/>
          <p:nvPr/>
        </p:nvSpPr>
        <p:spPr>
          <a:xfrm>
            <a:off x="1371600" y="1600200"/>
            <a:ext cx="9144000" cy="914400"/>
          </a:xfrm>
          <a:prstGeom prst="rect">
            <a:avLst/>
          </a:prstGeom>
          <a:noFill/>
          <a:ln/>
        </p:spPr>
        <p:txBody>
          <a:bodyPr wrap="square" rtlCol="0" anchor="ctr"/>
          <a:lstStyle/>
          <a:p>
            <a:pPr indent="0" marL="0">
              <a:buNone/>
            </a:pPr>
            <a:r>
              <a:rPr lang="en-US" sz="4800" b="1" dirty="0">
                <a:solidFill>
                  <a:srgbClr val="FFFFFF"/>
                </a:solidFill>
                <a:latin typeface="Segoe UI" pitchFamily="34" charset="0"/>
                <a:ea typeface="Segoe UI" pitchFamily="34" charset="-122"/>
                <a:cs typeface="Segoe UI" pitchFamily="34" charset="-120"/>
              </a:rPr>
              <a:t>WELLORA</a:t>
            </a:r>
            <a:endParaRPr lang="en-US" sz="4800" dirty="0"/>
          </a:p>
        </p:txBody>
      </p:sp>
      <p:sp>
        <p:nvSpPr>
          <p:cNvPr id="7" name="Text 5"/>
          <p:cNvSpPr/>
          <p:nvPr/>
        </p:nvSpPr>
        <p:spPr>
          <a:xfrm>
            <a:off x="1371600" y="2560320"/>
            <a:ext cx="9418320" cy="548640"/>
          </a:xfrm>
          <a:prstGeom prst="rect">
            <a:avLst/>
          </a:prstGeom>
          <a:noFill/>
          <a:ln/>
        </p:spPr>
        <p:txBody>
          <a:bodyPr wrap="square" rtlCol="0" anchor="ctr"/>
          <a:lstStyle/>
          <a:p>
            <a:pPr indent="0" marL="0">
              <a:buNone/>
            </a:pPr>
            <a:r>
              <a:rPr lang="en-US" sz="1800" b="1" dirty="0">
                <a:solidFill>
                  <a:srgbClr val="FFF7ED"/>
                </a:solidFill>
                <a:latin typeface="Segoe UI" pitchFamily="34" charset="0"/>
                <a:ea typeface="Segoe UI" pitchFamily="34" charset="-122"/>
                <a:cs typeface="Segoe UI" pitchFamily="34" charset="-120"/>
              </a:rPr>
              <a:t>Dual-Physics Digital Twin &amp; Real-Time SCADA AI Optimization System for Heavy Crude (17.5° API)</a:t>
            </a:r>
            <a:endParaRPr lang="en-US" sz="1800" dirty="0"/>
          </a:p>
        </p:txBody>
      </p:sp>
      <p:sp>
        <p:nvSpPr>
          <p:cNvPr id="8" name="Text 6"/>
          <p:cNvSpPr/>
          <p:nvPr/>
        </p:nvSpPr>
        <p:spPr>
          <a:xfrm>
            <a:off x="1371600" y="3200400"/>
            <a:ext cx="9418320" cy="731520"/>
          </a:xfrm>
          <a:prstGeom prst="rect">
            <a:avLst/>
          </a:prstGeom>
          <a:noFill/>
          <a:ln/>
        </p:spPr>
        <p:txBody>
          <a:bodyPr wrap="square" rtlCol="0" anchor="ctr"/>
          <a:lstStyle/>
          <a:p>
            <a:pPr indent="0" marL="0">
              <a:buNone/>
            </a:pPr>
            <a:r>
              <a:rPr lang="en-US" sz="1250" dirty="0">
                <a:solidFill>
                  <a:srgbClr val="FED7AA"/>
                </a:solidFill>
                <a:latin typeface="Segoe UI" pitchFamily="34" charset="0"/>
                <a:ea typeface="Segoe UI" pitchFamily="34" charset="-122"/>
                <a:cs typeface="Segoe UI" pitchFamily="34" charset="-120"/>
              </a:rPr>
              <a:t>Coupled Andrade Thermal Viscosity Modeling, Sucker Rod Pump (SRP) Kinematics, Cyclic Steam Stimulation (CSS) Enhanced Oil Recovery, Live SCADA Oscilloscope &amp; Conversational AI Copilot</a:t>
            </a:r>
            <a:endParaRPr lang="en-US" sz="1250" dirty="0"/>
          </a:p>
        </p:txBody>
      </p:sp>
      <p:sp>
        <p:nvSpPr>
          <p:cNvPr id="9" name="Shape 7"/>
          <p:cNvSpPr/>
          <p:nvPr/>
        </p:nvSpPr>
        <p:spPr>
          <a:xfrm>
            <a:off x="1371600" y="4069080"/>
            <a:ext cx="1783080" cy="320040"/>
          </a:xfrm>
          <a:prstGeom prst="roundRect">
            <a:avLst>
              <a:gd name="adj" fmla="val 17143"/>
            </a:avLst>
          </a:prstGeom>
          <a:solidFill>
            <a:srgbClr val="3B1002"/>
          </a:solidFill>
          <a:ln w="12700">
            <a:solidFill>
              <a:srgbClr val="FFFFFF"/>
            </a:solidFill>
            <a:prstDash val="solid"/>
          </a:ln>
        </p:spPr>
      </p:sp>
      <p:sp>
        <p:nvSpPr>
          <p:cNvPr id="10" name="Text 8"/>
          <p:cNvSpPr/>
          <p:nvPr/>
        </p:nvSpPr>
        <p:spPr>
          <a:xfrm>
            <a:off x="1371600" y="4069080"/>
            <a:ext cx="1783080" cy="320040"/>
          </a:xfrm>
          <a:prstGeom prst="rect">
            <a:avLst/>
          </a:prstGeom>
          <a:noFill/>
          <a:ln/>
        </p:spPr>
        <p:txBody>
          <a:bodyPr wrap="square" rtlCol="0" anchor="ctr"/>
          <a:lstStyle/>
          <a:p>
            <a:pPr algn="ctr" indent="0" marL="0">
              <a:buNone/>
            </a:pPr>
            <a:r>
              <a:rPr lang="en-US" sz="850" b="1" dirty="0">
                <a:solidFill>
                  <a:srgbClr val="FFFFFF"/>
                </a:solidFill>
              </a:rPr>
              <a:t>React 18 + TS</a:t>
            </a:r>
            <a:endParaRPr lang="en-US" sz="850" dirty="0"/>
          </a:p>
        </p:txBody>
      </p:sp>
      <p:sp>
        <p:nvSpPr>
          <p:cNvPr id="11" name="Shape 9"/>
          <p:cNvSpPr/>
          <p:nvPr/>
        </p:nvSpPr>
        <p:spPr>
          <a:xfrm>
            <a:off x="3246120" y="4069080"/>
            <a:ext cx="1783080" cy="320040"/>
          </a:xfrm>
          <a:prstGeom prst="roundRect">
            <a:avLst>
              <a:gd name="adj" fmla="val 17143"/>
            </a:avLst>
          </a:prstGeom>
          <a:solidFill>
            <a:srgbClr val="3B1002"/>
          </a:solidFill>
          <a:ln w="12700">
            <a:solidFill>
              <a:srgbClr val="FFFFFF"/>
            </a:solidFill>
            <a:prstDash val="solid"/>
          </a:ln>
        </p:spPr>
      </p:sp>
      <p:sp>
        <p:nvSpPr>
          <p:cNvPr id="12" name="Text 10"/>
          <p:cNvSpPr/>
          <p:nvPr/>
        </p:nvSpPr>
        <p:spPr>
          <a:xfrm>
            <a:off x="3246120" y="4069080"/>
            <a:ext cx="1783080" cy="320040"/>
          </a:xfrm>
          <a:prstGeom prst="rect">
            <a:avLst/>
          </a:prstGeom>
          <a:noFill/>
          <a:ln/>
        </p:spPr>
        <p:txBody>
          <a:bodyPr wrap="square" rtlCol="0" anchor="ctr"/>
          <a:lstStyle/>
          <a:p>
            <a:pPr algn="ctr" indent="0" marL="0">
              <a:buNone/>
            </a:pPr>
            <a:r>
              <a:rPr lang="en-US" sz="850" b="1" dirty="0">
                <a:solidFill>
                  <a:srgbClr val="FFFFFF"/>
                </a:solidFill>
              </a:rPr>
              <a:t>Thermal EOR ODE Solver</a:t>
            </a:r>
            <a:endParaRPr lang="en-US" sz="850" dirty="0"/>
          </a:p>
        </p:txBody>
      </p:sp>
      <p:sp>
        <p:nvSpPr>
          <p:cNvPr id="13" name="Shape 11"/>
          <p:cNvSpPr/>
          <p:nvPr/>
        </p:nvSpPr>
        <p:spPr>
          <a:xfrm>
            <a:off x="5120640" y="4069080"/>
            <a:ext cx="1783080" cy="320040"/>
          </a:xfrm>
          <a:prstGeom prst="roundRect">
            <a:avLst>
              <a:gd name="adj" fmla="val 17143"/>
            </a:avLst>
          </a:prstGeom>
          <a:solidFill>
            <a:srgbClr val="3B1002"/>
          </a:solidFill>
          <a:ln w="12700">
            <a:solidFill>
              <a:srgbClr val="FFFFFF"/>
            </a:solidFill>
            <a:prstDash val="solid"/>
          </a:ln>
        </p:spPr>
      </p:sp>
      <p:sp>
        <p:nvSpPr>
          <p:cNvPr id="14" name="Text 12"/>
          <p:cNvSpPr/>
          <p:nvPr/>
        </p:nvSpPr>
        <p:spPr>
          <a:xfrm>
            <a:off x="5120640" y="4069080"/>
            <a:ext cx="1783080" cy="320040"/>
          </a:xfrm>
          <a:prstGeom prst="rect">
            <a:avLst/>
          </a:prstGeom>
          <a:noFill/>
          <a:ln/>
        </p:spPr>
        <p:txBody>
          <a:bodyPr wrap="square" rtlCol="0" anchor="ctr"/>
          <a:lstStyle/>
          <a:p>
            <a:pPr algn="ctr" indent="0" marL="0">
              <a:buNone/>
            </a:pPr>
            <a:r>
              <a:rPr lang="en-US" sz="850" b="1" dirty="0">
                <a:solidFill>
                  <a:srgbClr val="FFFFFF"/>
                </a:solidFill>
              </a:rPr>
              <a:t>2.0 Hz Real-Time SCADA</a:t>
            </a:r>
            <a:endParaRPr lang="en-US" sz="850" dirty="0"/>
          </a:p>
        </p:txBody>
      </p:sp>
      <p:sp>
        <p:nvSpPr>
          <p:cNvPr id="15" name="Shape 13"/>
          <p:cNvSpPr/>
          <p:nvPr/>
        </p:nvSpPr>
        <p:spPr>
          <a:xfrm>
            <a:off x="6995160" y="4069080"/>
            <a:ext cx="1783080" cy="320040"/>
          </a:xfrm>
          <a:prstGeom prst="roundRect">
            <a:avLst>
              <a:gd name="adj" fmla="val 17143"/>
            </a:avLst>
          </a:prstGeom>
          <a:solidFill>
            <a:srgbClr val="3B1002"/>
          </a:solidFill>
          <a:ln w="12700">
            <a:solidFill>
              <a:srgbClr val="FFFFFF"/>
            </a:solidFill>
            <a:prstDash val="solid"/>
          </a:ln>
        </p:spPr>
      </p:sp>
      <p:sp>
        <p:nvSpPr>
          <p:cNvPr id="16" name="Text 14"/>
          <p:cNvSpPr/>
          <p:nvPr/>
        </p:nvSpPr>
        <p:spPr>
          <a:xfrm>
            <a:off x="6995160" y="4069080"/>
            <a:ext cx="1783080" cy="320040"/>
          </a:xfrm>
          <a:prstGeom prst="rect">
            <a:avLst/>
          </a:prstGeom>
          <a:noFill/>
          <a:ln/>
        </p:spPr>
        <p:txBody>
          <a:bodyPr wrap="square" rtlCol="0" anchor="ctr"/>
          <a:lstStyle/>
          <a:p>
            <a:pPr algn="ctr" indent="0" marL="0">
              <a:buNone/>
            </a:pPr>
            <a:r>
              <a:rPr lang="en-US" sz="850" b="1" dirty="0">
                <a:solidFill>
                  <a:srgbClr val="FFFFFF"/>
                </a:solidFill>
              </a:rPr>
              <a:t>Laser Dynamometer</a:t>
            </a:r>
            <a:endParaRPr lang="en-US" sz="850" dirty="0"/>
          </a:p>
        </p:txBody>
      </p:sp>
      <p:sp>
        <p:nvSpPr>
          <p:cNvPr id="17" name="Shape 15"/>
          <p:cNvSpPr/>
          <p:nvPr/>
        </p:nvSpPr>
        <p:spPr>
          <a:xfrm>
            <a:off x="8869680" y="4069080"/>
            <a:ext cx="1783080" cy="320040"/>
          </a:xfrm>
          <a:prstGeom prst="roundRect">
            <a:avLst>
              <a:gd name="adj" fmla="val 17143"/>
            </a:avLst>
          </a:prstGeom>
          <a:solidFill>
            <a:srgbClr val="3B1002"/>
          </a:solidFill>
          <a:ln w="12700">
            <a:solidFill>
              <a:srgbClr val="FFFFFF"/>
            </a:solidFill>
            <a:prstDash val="solid"/>
          </a:ln>
        </p:spPr>
      </p:sp>
      <p:sp>
        <p:nvSpPr>
          <p:cNvPr id="18" name="Text 16"/>
          <p:cNvSpPr/>
          <p:nvPr/>
        </p:nvSpPr>
        <p:spPr>
          <a:xfrm>
            <a:off x="8869680" y="4069080"/>
            <a:ext cx="1783080" cy="320040"/>
          </a:xfrm>
          <a:prstGeom prst="rect">
            <a:avLst/>
          </a:prstGeom>
          <a:noFill/>
          <a:ln/>
        </p:spPr>
        <p:txBody>
          <a:bodyPr wrap="square" rtlCol="0" anchor="ctr"/>
          <a:lstStyle/>
          <a:p>
            <a:pPr algn="ctr" indent="0" marL="0">
              <a:buNone/>
            </a:pPr>
            <a:r>
              <a:rPr lang="en-US" sz="850" b="1" dirty="0">
                <a:solidFill>
                  <a:srgbClr val="FFFFFF"/>
                </a:solidFill>
              </a:rPr>
              <a:t>Conversational AI Copilot</a:t>
            </a:r>
            <a:endParaRPr lang="en-US" sz="850" dirty="0"/>
          </a:p>
        </p:txBody>
      </p:sp>
      <p:sp>
        <p:nvSpPr>
          <p:cNvPr id="19" name="Text 17"/>
          <p:cNvSpPr/>
          <p:nvPr/>
        </p:nvSpPr>
        <p:spPr>
          <a:xfrm>
            <a:off x="1371600" y="4663440"/>
            <a:ext cx="5943600" cy="73152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Presented by: Mithesh D</a:t>
            </a:r>
            <a:endParaRPr lang="en-US" sz="1100" dirty="0"/>
          </a:p>
          <a:p>
            <a:pPr indent="0" marL="0">
              <a:buNone/>
            </a:pPr>
            <a:r>
              <a:rPr lang="en-US" sz="1100" b="1" dirty="0">
                <a:solidFill>
                  <a:srgbClr val="FFFFFF"/>
                </a:solidFill>
                <a:latin typeface="Segoe UI" pitchFamily="34" charset="0"/>
                <a:ea typeface="Segoe UI" pitchFamily="34" charset="-122"/>
                <a:cs typeface="Segoe UI" pitchFamily="34" charset="-120"/>
              </a:rPr>
              <a:t>Domain: Petroleum Digital Twin &amp; Industrial SCADA Automation</a:t>
            </a:r>
            <a:endParaRPr lang="en-US" sz="1100" dirty="0"/>
          </a:p>
        </p:txBody>
      </p:sp>
      <p:sp>
        <p:nvSpPr>
          <p:cNvPr id="20" name="Text 18"/>
          <p:cNvSpPr/>
          <p:nvPr/>
        </p:nvSpPr>
        <p:spPr>
          <a:xfrm>
            <a:off x="7315200" y="4663440"/>
            <a:ext cx="3474720" cy="731520"/>
          </a:xfrm>
          <a:prstGeom prst="rect">
            <a:avLst/>
          </a:prstGeom>
          <a:noFill/>
          <a:ln/>
        </p:spPr>
        <p:txBody>
          <a:bodyPr wrap="square" rtlCol="0" anchor="ctr"/>
          <a:lstStyle/>
          <a:p>
            <a:pPr algn="r" indent="0" marL="0">
              <a:buNone/>
            </a:pPr>
            <a:r>
              <a:rPr lang="en-US" sz="1000" dirty="0">
                <a:solidFill>
                  <a:srgbClr val="FED7AA"/>
                </a:solidFill>
                <a:latin typeface="Segoe UI" pitchFamily="34" charset="0"/>
                <a:ea typeface="Segoe UI" pitchFamily="34" charset="-122"/>
                <a:cs typeface="Segoe UI" pitchFamily="34" charset="-120"/>
              </a:rPr>
              <a:t>Target Reservoir: 17.5° API Crude Oil (3,500 cP Viscosity)</a:t>
            </a:r>
            <a:endParaRPr lang="en-US" sz="1000" dirty="0"/>
          </a:p>
          <a:p>
            <a:pPr algn="r" indent="0" marL="0">
              <a:buNone/>
            </a:pPr>
            <a:r>
              <a:rPr lang="en-US" sz="1000" dirty="0">
                <a:solidFill>
                  <a:srgbClr val="FED7AA"/>
                </a:solidFill>
                <a:latin typeface="Segoe UI" pitchFamily="34" charset="0"/>
                <a:ea typeface="Segoe UI" pitchFamily="34" charset="-122"/>
                <a:cs typeface="Segoe UI" pitchFamily="34" charset="-120"/>
              </a:rPr>
              <a:t>Deployment: Vercel Production Cloud / Zero-Config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EXECUTIVE SUMMARY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Abstract: Dual-Physics SCADA Digital Twin Architecture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02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Executive Problem Statement &amp; Engineering Purpose</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Heavy Crude Challenge (17.5° API): Cold reservoir oil exhibits near-solid tar viscosity (&gt;3,500 cP at 28°C), causing severe rod string drag, pump floating, and premature motor burnout.</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Thermal Recovery Mechanism: Cyclic Steam Stimulation (CSS) provides high-enthalpy thermal energy (260°C to 310°C) to dramatically drop oil viscosity to ~12.8 cP via Andrade's logarithmic thermal model.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Digital Twin Innovation: Conventional SCADA systems act only as passive telemetry recorders. WELLORA transforms traditional SCADA into an active predictive digital twin by fusing thermal reservoir ODEs with Sucker Rod Pump (SRP) stress mechanics.</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Integrated AI Copilot: Operators can interrogate the system in natural language, perform dynamic what-if calculations, and dispatch optimal setpoints directly to the digital twin.</a:t>
            </a:r>
            <a:endParaRPr lang="en-US" sz="1000" dirty="0"/>
          </a:p>
        </p:txBody>
      </p:sp>
      <p:sp>
        <p:nvSpPr>
          <p:cNvPr id="17" name="Shape 15"/>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Validated Quantitative Deliverables &amp; Operational Impact</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+28.4% Steam Thermal Utilization Efficiency: Predictive soak-time scheduling avoids wasted steam boiler fuel and optimizes thermal energy transfer into the formation.</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-34.8% Reduction in Rod String Fatigue: Automated SPM speed regulation prevents dynamic fluid pound shocks and prolongs rod string lifespan.</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2.0 Hz Real-Time SCADA Telemetry Streaming: Sub-second sensor stream featuring Web Audio acoustic multi-tone alarm triggers (880 Hz / 440 Hz).</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100% Closed-Loop AI Parameter Dispatch: Direct parameter execution allowing operators to update pumping speed and steam temperature with a single click.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ENGINEERING BACKGROUND</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Introduction: Heavy Crude Oil Reservoir Engineering (17.5° API)</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03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1. Fluid Composition &amp; Physical Properties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API Gravity of 17.5° corresponds to a heavy specific gravity of 0.95 g/cm³ (950 kg/m³), placing it in the heavy crude oil category.</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High Asphaltene &amp; Resin Content: Dense molecular weight hydrocarbons create extensive intermolecular paraffin networks that strongly resist laminar flow.</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Cold Reservoir State: At native formation temperatures (25°C - 30°C), viscosity ranges between 3,500 and 4,200 cP (similar to thick cold honey).</a:t>
            </a:r>
            <a:endParaRPr lang="en-US" sz="1000" dirty="0"/>
          </a:p>
        </p:txBody>
      </p:sp>
      <p:sp>
        <p:nvSpPr>
          <p:cNvPr id="16" name="Shape 14"/>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2. Darcy Law Limits &amp; Production Challenges</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Darcy Law Limitation: Fluid velocity v = -(k/μ)∇P. When viscosity μ is 3,500 cP, natural reservoir flow approaches zero without artificial stimulation.</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Non-Newtonian Bingham Plastic: Exhibits shear-thinning thixotropic behavior requiring a threshold yield stress before fluid mobilization occurs.</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Severe Rod Floating: Downward stroke of the sucker rod is severely retarded by viscous buoyant forces, causing mechanical valve hang-up.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THERMAL ENHANCED OIL RECOVERY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Introduction: Cyclic Steam Stimulation (CSS) 3-Stage Process</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04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Stage 1: Steam Injection &amp; Stage 2: Heat Soaking</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Stage 1 (Steam Injection - 12 Days): High-enthalpy dry steam at 260°C to 310°C is injected at 12 - 15 MPa wellhead pressure.</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Enthalpy Transfer: Latent heat of condensation releases ~2,100 kJ/kg directly into the rock formation, collapsing viscosity from 3,500 cP to 12.8 cP.</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Stage 2 (Formation Soaking - 6 Days): Master valves are shut in for 5 - 7 days to allow conductive thermal dispersion into the tight sandstone matrix.</a:t>
            </a:r>
            <a:endParaRPr lang="en-US" sz="1000" dirty="0"/>
          </a:p>
        </p:txBody>
      </p:sp>
      <p:sp>
        <p:nvSpPr>
          <p:cNvPr id="16" name="Shape 14"/>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Stage 3: Production Drawdown &amp; Re-Steaming Cycle</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Stage 3 (Production - 72 Days): Beam pump starts reciprocating, lifting hot, low-viscosity crude oil at 300+ BPD.</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Exponential Heat Loss: Thermal conduction dissipates into surrounding shale over 72 days, gradually lowering bottomhole temperature toward 45°C.</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Re-Steaming Trigger: When crude viscosity climbs back above 800 cP, the digital twin automatically schedules the next steam cycle.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ARTIFICIAL LIFT MECHANICS</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Introduction: Sucker Rod Pump (SRP) Dynamics &amp; Wave Equations</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05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Sucker Rod Pumping Unit Operation</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Surface Walking Beam: Converts electric motor rotary torque into reciprocating vertical stroke (typically 6 - 10 SPM with 86 - 120 inch stroke).</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Rod String Elasticity: 1,200m continuous steel rod behaves like an elastic spring with inherent resonant frequencies and longitudinal wave travel.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Downhole Valve Action: Upstroke lifts the fluid column with closed traveling valve; downstroke plunges the rod through fluid.</a:t>
            </a:r>
            <a:endParaRPr lang="en-US" sz="1000" dirty="0"/>
          </a:p>
        </p:txBody>
      </p:sp>
      <p:sp>
        <p:nvSpPr>
          <p:cNvPr id="16" name="Shape 14"/>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Dynamic Failures in Heavy Oil Artificial Lift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Fluid Pound: Occurs when the pump barrel partially fills with viscous crude; plunger slams into liquid midway down, causing severe shock waves.</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Peak Polish Rod Load (PPRL): Total upstroke load combining rod weight, fluid column weight, inertial acceleration, and viscous pipe friction.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Dynamometer Diagnosis: Plotting Load vs Position produces closed diagnostic loops revealing subsurface malfunctions.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MATHEMATICAL FORMULATION</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Details about the Training: Thermodynamic Calibration &amp; Heat Loss ODE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06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1. Andrade Exponential Viscosity Calibration</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Andrade Formulation: ln(μ) = ln(A) + B / (T + 273.15)</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Calibrated Parameters: A = 0.0125 cP, B = 1850 K for 17.5° API heavy crude oil.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Verification Points: 28°C = 3,842 cP (Cold), 80°C = 192 cP, 180°C = 24.6 cP, 260°C = 12.8 cP (Steam Injected).</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Trained using laboratory empirical PVT viscometer datasets for heavy oil samples.</a:t>
            </a:r>
            <a:endParaRPr lang="en-US" sz="1000" dirty="0"/>
          </a:p>
        </p:txBody>
      </p:sp>
      <p:sp>
        <p:nvSpPr>
          <p:cNvPr id="17" name="Shape 15"/>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2. 90-Day Formation Thermal Dissipation ODE</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ODE Heat Transfer: ∂T/∂t = -λ·(T - T_formation) - (ρ_f·c_f / ρ_m·c_m)·v·∇T</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Piecewise CSS Model: Injection (T = 260°C), Soaking (T = 260 - 25°C), Production (T = 45 + 190·exp(-0.038·t)).</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Conductive decay rate (k = 0.038/day) accurately predicts formation temperature decline across 90-day cycles.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MECHANICAL DYNAMICS &amp; AI TRAINING</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Details about the Training: API RP 11L Dynamics &amp; AI NLP Models</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07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1. Sucker Rod Wave Equations (API RP 11L)</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Damped 1D Wave Equation: ∂²u/∂t² = a²·(∂²u/∂x²) - c·(∂u/∂t)</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Peak Polish Rod Load: PPRL = [W_rod + W_fluid] · [1 + (S·N²)/70500] · DragFactor</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Drag Factor Coupling: DragFactor = 1 + (μ/500)·0.45, reflecting viscous buoyancy loss.</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Continuous verification against API allowable rod stress (σ ≤ 30,000 PSI).</a:t>
            </a:r>
            <a:endParaRPr lang="en-US" sz="1000" dirty="0"/>
          </a:p>
        </p:txBody>
      </p:sp>
      <p:sp>
        <p:nvSpPr>
          <p:cNvPr id="17" name="Shape 15"/>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2. Conversational AI Intent &amp; Physics Training</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Domain NLP Training: Trained on petroleum engineering ontology, SCADA alarm matrices, and CSS thermal recovery rules.</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Live State Injection: Queries automatically inject current reservoir temperature, viscosity, and active alarms into context.</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Deterministic Physics Verification: Recalculates exact PPRL and motor HP before outputting recommendations.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SYSTEM ARCHITECTURE</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Project Description: 5-Tier Modular System Architecture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08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Tiers 1 to 3: Core Physics &amp; SCADA Streaming</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Tier 1 (Subsurface Physics): Andrade viscosity equations coupled with CSS thermal dissipation ODEs.</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Tier 2 (Real-Time SCADA Engine): 2.0 Hz streaming engine dispatching telemetry snapshots with Gaussian noise jitter every 500ms.</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Tier 3 (Sucker Rod Kinematics): API RP 11L mechanical load calculator, Fourier harmonic card generator, and rod stress analyzer.</a:t>
            </a:r>
            <a:endParaRPr lang="en-US" sz="1000" dirty="0"/>
          </a:p>
        </p:txBody>
      </p:sp>
      <p:sp>
        <p:nvSpPr>
          <p:cNvPr id="16" name="Shape 14"/>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Tiers 4 &amp; 5: SCADA Visualizers &amp; AI Copilot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Tier 4 (SCADA Visualizers): Dual-channel live oscilloscope with phosphor persistence, laser dynamometer card tracer, and P&amp;ID synoptic flow.</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Tier 5 (Conversational AI Copilot): Open-ended copilot answering freeform questions and dispatching setpoint actions directly to the twin.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Multi-Well Field Matrix: Independent persistent monitoring for 4 production wells (OR-101 to OR-104).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SPECIFICATIONS &amp; TECH STACK</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Hardware and Software Requirements</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09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Hardware Requirements &amp; Industrial Specs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Workstation CPU: Intel Core i5 / Ryzen 5 minimum (Intel Core i7 8-Core recommended for multi-well ODE solving).</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Memory: 8 GB minimum (16 GB recommended for high-frequency telemetry streaming).</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Display: 1920×1080 FHD resolution with Canvas 2D/WebGL GPU hardware acceleration.</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Edge SCADA Gateway: ARM Cortex-A53 / Moxa Industrial IoT RTU for field sensor integration.</a:t>
            </a:r>
            <a:endParaRPr lang="en-US" sz="1000" dirty="0"/>
          </a:p>
        </p:txBody>
      </p:sp>
      <p:sp>
        <p:nvSpPr>
          <p:cNvPr id="17" name="Shape 15"/>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Software &amp; Framework Stack</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Core Framework: React 18.3 + TypeScript (Strict type safety, zero runtime errors).</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UI Design System: Tailwind CSS + Custom Orange-White Industrial SCADA design tokens.</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Rendering &amp; Audio: HTML5 Canvas 2D API (60 FPS) + Native Web Audio API Acoustic Synthesizer.</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Build &amp; Cloud Hosting: Vite 5.x Bundler, Node.js v24+, Vercel Production Edge Cloud.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USER INTERFACE ENGINEERING</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Frontend Design: Architecture, Design System &amp; Component Tree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10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Industrial Orange Palette &amp; Tokens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High-Contrast Industrial Theme: Deep vibrant orange background (#C2410C) with pure white text (#FFFFFF) for 24/7 control room readability.</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Status Semantic Colors: Green (#4ADE80) for Normal, Yellow (#FDE047) for Warning, Red (#F87171) for Alarms, Cyan (#67E8F9) for Steam Injection.</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Typography: Space Grotesk / Plus Jakarta Sans for headings + JetBrains Mono for telemetry numerals.</a:t>
            </a:r>
            <a:endParaRPr lang="en-US" sz="1000" dirty="0"/>
          </a:p>
        </p:txBody>
      </p:sp>
      <p:sp>
        <p:nvSpPr>
          <p:cNvPr id="16" name="Shape 14"/>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Reactive Component Tree &amp; State Flow</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App.tsx: Central telemetry state coordinator managing 2.0 Hz telemetry ticks, active well ID, and simulation parameters.</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Navbar.tsx: Multi-well switcher and 90-day CSS cycle stepper.</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LiveOscilloscope.tsx: Dual-channel live waveform plotter with phosphor decay.</a:t>
            </a:r>
            <a:endParaRPr lang="en-US" sz="1000" dirty="0"/>
          </a:p>
        </p:txBody>
      </p:sp>
      <p:sp>
        <p:nvSpPr>
          <p:cNvPr id="21" name="Text 19"/>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DynamometerCardView.tsx: Closed-loop laser dynamometer tracer.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UI SCREENSHOT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Frontend Design: SCADA Live Telemetry Dashboard &amp; Field Matrix</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11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orange_black_dashboard_1789358349150.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Component Analysis &amp; Walkthrough</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Multi-Well Status Matrix: Top navigation displays all 4 field wells (OR-101 to OR-104) with active operational badges.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CSS Cycle Stepper: Shows current Day 24 of 90 with interactive stage progress indicators (Injection / Soaking / Production).</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Real-Time Telemetry Cards: Wellhead Pressure (14.8 bar), Motor Current (38.5 A), Peak Rod Load (18,500 lbs), Oil Flow (312.4 BPD).</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Quick Action Dispatcher: Direct buttons for Steam Optimization, AI Auto-Tune, and Emergency SCADA Shutdown.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UI SCREENSHOT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Frontend Design: Real-Time Signal Waveform Oscilloscope (2.0 Hz)</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12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live_waveform_orange_1789358371023.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Signal Processing &amp; Oscilloscope Features</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Dual-Channel Live Waveforms: Channel A (Orange) plots Polish Rod Load (lbs); Channel B (Cyan) plots Motor Current (Amperes).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60 FPS Phosphor Persistence: Utilizes HTML5 Canvas 2D with alpha background clearing to create realistic CRT glow trails.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2.0 Hz Data Ingestion: Continuous 500ms telemetry sampling buffers real-time sensor packets without DOM bottlenecks.</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Harmonic Diagnosis: Operators visually detect abnormal load spikes or electrical motor phase imbalances instantly.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UI SCREENSHOT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Frontend Design: Laser Tracing Surface &amp; Downhole Dynamometer</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13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dynamometer_orange_178935839585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Dynamometer Analysis &amp; Mechanical Diagnosis</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Closed-Loop Load vs Position: Plots continuous polish rod position (0 to 100 in) against instantaneous rod load (0 to 26,000 lbs).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Surface vs Downhole Comparison: Outer Surface Card (measured at surface) vs Inner Pump Card (derived downhole pump action).</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Real-Time Laser Beam Tracing: Pulsating laser dot traces the curve synchronously with the walking beam cycle.</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Pump Fillage Efficiency: Dynamometer area computes mechanical work per stroke, diagnosing pump fillage (94.2%).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UI SCREENSHOT 04</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Frontend Design: Subsurface 3D Twin &amp; P&amp;ID Synoptic Flow Visualizer</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14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pid_synoptic_view_178935636831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Synoptic Flow Architecture &amp; 3D Visualizer</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Interactive P&amp;ID Process Flow: Displays wellhead valves, steam injection manifold, flowline chokes, and three-phase separator.</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Subsurface Kinematics: Animated walking beam reciprocation coupled to the 1,200m downhole sucker rod and valves.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Reservoir Thermal Isotherms: Dynamic radial rings visualize heat propagation around the perforation zone (260°C to 45°C).</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Live Viscosity Gradient: Fluid column dynamically shifts color from dark asphaltic black to golden mobile amber.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BACKEND CODE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Backend Coding: Andrade Thermal Viscosity &amp; CSS Heat Decay Solver</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15 / 24</a:t>
            </a:r>
            <a:endParaRPr lang="en-US" sz="950" dirty="0"/>
          </a:p>
        </p:txBody>
      </p:sp>
      <p:sp>
        <p:nvSpPr>
          <p:cNvPr id="11" name="Shape 9"/>
          <p:cNvSpPr/>
          <p:nvPr/>
        </p:nvSpPr>
        <p:spPr>
          <a:xfrm>
            <a:off x="731520" y="1463040"/>
            <a:ext cx="6949440" cy="4754880"/>
          </a:xfrm>
          <a:prstGeom prst="roundRect">
            <a:avLst>
              <a:gd name="adj" fmla="val 1923"/>
            </a:avLst>
          </a:prstGeom>
          <a:solidFill>
            <a:srgbClr val="140702"/>
          </a:solidFill>
          <a:ln w="15240">
            <a:solidFill>
              <a:srgbClr val="FFFFFF"/>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E047"/>
                </a:solidFill>
                <a:latin typeface="Consolas" pitchFamily="34" charset="0"/>
                <a:ea typeface="Consolas" pitchFamily="34" charset="-122"/>
                <a:cs typeface="Consolas" pitchFamily="34" charset="-120"/>
              </a:rPr>
              <a:t>// src/services/physicsEngine.ts - Andrade Model &amp; Thermal ODE</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export function calculateViscosity(tempCelsius: number): number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T_kelvin = tempCelsius + 273.15;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A = 0.0125; // Calibrated for 17.5° API crude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B = 1850;   // Activation energy constant (Kelvin)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viscosity = A * Math.exp(B / T_kelvin);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Math.max(1.0, parseFloat(viscosity.toFixed(2)));</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a:p>
            <a:pPr indent="0" marL="0">
              <a:buNone/>
            </a:pP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90-Day Cyclic Steam Stimulation (CSS) Heat Decay ODE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export function calculateCycleState(dayOfCycle: number, steamTemp: number = 260)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if (dayOfCycle &lt;= 12)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Stage 1: Continuous Steam Injection (260°C)</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 stage: 'INJECTION', temp: steamTemp, viscosity: calculateViscosity(steamTemp)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else if (dayOfCycle &lt;= 18)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Stage 2: Reservoir Thermal Soaking</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soakProgress = (dayOfCycle - 12) / 6;</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temp = steamTemp - (soakProgress * 25);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 stage: 'SOAKING', temp, viscosity: calculateViscosity(temp)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else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Stage 3: Production Drawdown with Exponential Decay</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prodDays = dayOfCycle - 18;</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temp = 45 + (steamTemp - 70) * Math.exp(-0.038 * prodDays);</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 stage: 'PRODUCTION', temp, viscosity: calculateViscosity(temp)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6B2006"/>
          </a:solidFill>
          <a:ln w="15240">
            <a:solidFill>
              <a:srgbClr val="E06528"/>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Code Engineering Rationale</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Exact Andrade Formulation: Converts Celsius to Kelvin and evaluates exponential relation in O(1) constant time.</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Piecewise CSS Solver: Smoothly transitions between Injection, Soaking, and Production without numerical discontinuities.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Sub-Millisecond Execution: Deterministic TypeScript functions run seamlessly inside the 60 FPS animation loop.</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BACKEND CODE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Backend Coding: Sucker Rod Mechanics &amp; API RP 11L Stress Engine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16 / 24</a:t>
            </a:r>
            <a:endParaRPr lang="en-US" sz="950" dirty="0"/>
          </a:p>
        </p:txBody>
      </p:sp>
      <p:sp>
        <p:nvSpPr>
          <p:cNvPr id="11" name="Shape 9"/>
          <p:cNvSpPr/>
          <p:nvPr/>
        </p:nvSpPr>
        <p:spPr>
          <a:xfrm>
            <a:off x="731520" y="1463040"/>
            <a:ext cx="6949440" cy="4754880"/>
          </a:xfrm>
          <a:prstGeom prst="roundRect">
            <a:avLst>
              <a:gd name="adj" fmla="val 1923"/>
            </a:avLst>
          </a:prstGeom>
          <a:solidFill>
            <a:srgbClr val="140702"/>
          </a:solidFill>
          <a:ln w="15240">
            <a:solidFill>
              <a:srgbClr val="FFFFFF"/>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E047"/>
                </a:solidFill>
                <a:latin typeface="Consolas" pitchFamily="34" charset="0"/>
                <a:ea typeface="Consolas" pitchFamily="34" charset="-122"/>
                <a:cs typeface="Consolas" pitchFamily="34" charset="-120"/>
              </a:rPr>
              <a:t>// src/services/physicsEngine.ts - Sucker Rod Dynamic Mechanics</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export function calculateSRPMechanics(spm: number, strokeInches: number, depthMeters: number, viscosity: number)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Fluid Viscous Drag Factor coupling Darcy pipe flow</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fluidDragFactor = 1 + (viscosity / 500) * 0.45;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Buoyant Rod Weight in 17.5° API crude (0.95 g/cm³ density)</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rodWeightInFluid = depthMeters * 3.28084 * 1.85 * (1 - (0.95 / 7.85));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API RP 11L Acceleration Factor: α = (S · N²) / 70,500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accelerationFactor = (strokeInches * Math.pow(spm, 2)) / 70500;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Peak Polish Rod Load (PPRL) on Upstroke (lbs)</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pprl = (rodWeightInFluid + 1800) * (1 + accelerationFactor) * fluidDragFactor;</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Minimum Polish Rod Load (MPRL) on Downstroke (lbs)</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mprl = Math.max(1200, rodWeightInFluid * (1 - accelerationFactor) / fluidDragFactor);</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Tensile Rod Stress Analysis on 7/8" Steel Rod String (PSI)</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rodStressPsi = pprl / (Math.PI * Math.pow(0.875 / 2, 2));</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motorHPEstimate = (pprl * (strokeInches / 12) * spm) / 33000 * 1.45;</a:t>
            </a:r>
            <a:endParaRPr lang="en-US" sz="800" dirty="0"/>
          </a:p>
          <a:p>
            <a:pPr indent="0" marL="0">
              <a:buNone/>
            </a:pP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 pprl: Math.round(pprl), mprl: Math.round(mprl), rodStressPsi: Math.round(rodStressPsi), motorHPEstimate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6B2006"/>
          </a:solidFill>
          <a:ln w="15240">
            <a:solidFill>
              <a:srgbClr val="E06528"/>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Mechanical Algorithm Highlights</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API RP 11L Compliance: Standardized rod acceleration factor (S·N²)/70500 captures reciprocating inertia.</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Coupled Fluid Drag: Incorporates fluid viscosity into the load multiplier, triggering high load alerts when crude cools.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Rod Stress Verification: Continuously calculates rod tensile stress against 30,000 PSI safety ceiling.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BACKEND CODE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Backend Coding: Real-Time SCADA Stream &amp; Acoustic Synthesizer</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17 / 24</a:t>
            </a:r>
            <a:endParaRPr lang="en-US" sz="950" dirty="0"/>
          </a:p>
        </p:txBody>
      </p:sp>
      <p:sp>
        <p:nvSpPr>
          <p:cNvPr id="11" name="Shape 9"/>
          <p:cNvSpPr/>
          <p:nvPr/>
        </p:nvSpPr>
        <p:spPr>
          <a:xfrm>
            <a:off x="731520" y="1463040"/>
            <a:ext cx="6949440" cy="4754880"/>
          </a:xfrm>
          <a:prstGeom prst="roundRect">
            <a:avLst>
              <a:gd name="adj" fmla="val 1923"/>
            </a:avLst>
          </a:prstGeom>
          <a:solidFill>
            <a:srgbClr val="140702"/>
          </a:solidFill>
          <a:ln w="15240">
            <a:solidFill>
              <a:srgbClr val="FFFFFF"/>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E047"/>
                </a:solidFill>
                <a:latin typeface="Consolas" pitchFamily="34" charset="0"/>
                <a:ea typeface="Consolas" pitchFamily="34" charset="-122"/>
                <a:cs typeface="Consolas" pitchFamily="34" charset="-120"/>
              </a:rPr>
              <a:t>// src/services/realtimeStreamEngine.ts - 2Hz Stream &amp; Web Audio</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function playAlarmChime(frequency = 880, type = 'sine')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try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ctx = new (window.AudioContext || (window as any).webkitAudioContext)();</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osc = ctx.createOscillator();</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gain = ctx.createGain();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osc.type = type as OscillatorType;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osc.frequency.setValueAtTime(frequency, ctx.currentTime);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gain.gain.setValueAtTime(0.15, ctx.currentTime);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gain.gain.exponentialRampToValueAtTime(0.001, ctx.currentTime + 0.35);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osc.connect(gain);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gain.connect(ctx.destination);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osc.start();</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osc.stop(ctx.currentTime + 0.35);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catch (e) { /* Web Audio fallback */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a:p>
            <a:pPr indent="0" marL="0">
              <a:buNone/>
            </a:pP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2.0 Hz Real-Time Telemetry Generator Loop</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export function startTelemetryStream(onData: (snapshot: ScadaSnapshot) =&gt; void)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let tickCount = 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interval = setInterval(() =&gt;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tickCount++;</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noise = (Math.random() - 0.5) * 2;</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onData({</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timestamp: Date.now(),</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wellheadPressure: 14.8 + noise * 0.3,</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motorCurrent: 38.5 + Math.sin(tickCount * 0.4) * 4.2 + noise * 0.5,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polishRodLoad: 18500 + Math.sin(tickCount * 0.4) * 3500 + noise * 200,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flowRate: 312.4 + noise * 4.0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500); // 500ms = 2.0 Hz sampling rate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 =&gt; clearInterval(interval);</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6B2006"/>
          </a:solidFill>
          <a:ln w="15240">
            <a:solidFill>
              <a:srgbClr val="E06528"/>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Telemetry Engine Highlights</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Browser-Native Audio Synthesis: Generates acoustic alarm chimes directly using Web Audio nodes without external MP3 files.</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500ms Sampling Heartbeat: Dispatches continuous telemetry updates without browser thread starvation.</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Gaussian Noise Injection: Simulates authentic analog-to-digital converter (ADC) sensor noise jitter.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BACKEND CODE 04</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Backend Coding: Conversational AI Copilot &amp; Scenario Dispatcher</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18 / 24</a:t>
            </a:r>
            <a:endParaRPr lang="en-US" sz="950" dirty="0"/>
          </a:p>
        </p:txBody>
      </p:sp>
      <p:sp>
        <p:nvSpPr>
          <p:cNvPr id="11" name="Shape 9"/>
          <p:cNvSpPr/>
          <p:nvPr/>
        </p:nvSpPr>
        <p:spPr>
          <a:xfrm>
            <a:off x="731520" y="1463040"/>
            <a:ext cx="6949440" cy="4754880"/>
          </a:xfrm>
          <a:prstGeom prst="roundRect">
            <a:avLst>
              <a:gd name="adj" fmla="val 1923"/>
            </a:avLst>
          </a:prstGeom>
          <a:solidFill>
            <a:srgbClr val="140702"/>
          </a:solidFill>
          <a:ln w="15240">
            <a:solidFill>
              <a:srgbClr val="FFFFFF"/>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E047"/>
                </a:solidFill>
                <a:latin typeface="Consolas" pitchFamily="34" charset="0"/>
                <a:ea typeface="Consolas" pitchFamily="34" charset="-122"/>
                <a:cs typeface="Consolas" pitchFamily="34" charset="-120"/>
              </a:rPr>
              <a:t>// src/services/aiAdvisorService.ts - Natural Language Copilot</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FFFFF"/>
                </a:solidFill>
                <a:latin typeface="Consolas" pitchFamily="34" charset="0"/>
                <a:ea typeface="Consolas" pitchFamily="34" charset="-122"/>
                <a:cs typeface="Consolas" pitchFamily="34" charset="-120"/>
              </a:rPr>
              <a:t>export async function getAiCopilotResponse(query: string, ctx: WelloraState): Promise&lt;AiCopilotMessage&gt;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q = query.toLowerCase();</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1. Parameter Extraction &amp; Instant Simulation Recalculation</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spmMatch = q.match(/(\d+(\.\d+)?)\s*(spm|speed|rpm)/i);</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if (spmMatch)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targetSpm = parseFloat(spmMatch[1]);</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sim = calculateSRPMechanics(targetSpm, ctx.strokeLength, ctx.wellDepth, ctx.viscosity);</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text: "⚡ Dynamic Simulation for " + targetSpm + " SPM: Peak Polish Rod Load calculates to " + sim.pprl.toLocaleString() + " lbs with " + sim.motorHPEstimate + " HP demand.",</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action: { type: "SET_SPM", value: targetSpm }, confidence: 0.98</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 2. Heavy Oil Domain Ontology &amp; Thermal Recommendations</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if (q.includes("steam") || q.includes("viscosity") || q.includes("temperature"))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const recTemp = ctx.viscosity &gt; 500 ? 280 : 240;</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text: "🔥 Current crude viscosity is " + ctx.viscosity + " cP at " + ctx.bottomHoleTemp + "°C. Optimal Andrade transition requires heating above 180°C.",</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action: { type: "OPTIMIZE_STEAM", value: recTemp }, confidence: 0.95</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  return generateTechnicalExplanation(query, ctx);</a:t>
            </a:r>
            <a:endParaRPr lang="en-US" sz="800" dirty="0"/>
          </a:p>
          <a:p>
            <a:pPr indent="0" marL="0">
              <a:buNone/>
            </a:pPr>
            <a:r>
              <a:rPr lang="en-US" sz="800" dirty="0">
                <a:solidFill>
                  <a:srgbClr val="FFFFFF"/>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6B2006"/>
          </a:solidFill>
          <a:ln w="15240">
            <a:solidFill>
              <a:srgbClr val="E06528"/>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AI Engine Architecture</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Physics-Grounded Intent Parsing: Evaluates queries against live reservoir parameters rather than returning canned templates.</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Dynamic Scenario Recalculation: Runs SRP mechanics and thermal ODEs on-the-fly when operators propose setpoint changes.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Action Payload Dispatching: Emits structured action events that update digital twin sliders with single-click operator approval.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OUTPUT SCREENSHOT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Output Screenshots: SCADA Operational Suite &amp; Alarm Matrix</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19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final_dashboard_orange_black_1789358490222.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Control Room Operations &amp; Alarm Handling</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Real-Time SCADA Alarm Matrix: Displays active alarms for Peak Rod Load (&gt;22,000 lbs) and low wellhead pressure (&lt;8.0 bar).</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Alarm Acknowledgment Workflow: Operators acknowledge alarms individually, silencing acoustic chimes while logging audit events.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Integrated Multi-Widget View: Simultaneously presents telemetry KPIs, live oscilloscope, and dynamometer loop on a single screen.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OUTPUT SCREENSHOT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Output Screenshots: Conversational AI Copilot Freeform Dialogue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20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scada_ai_copilot_chat_1789359031098.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Conversational Copilot in Action</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Non-Restricted Natural Language: Operators can ask any operational question (e.g. "Explain Andrade viscosity equation").</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Accurate Engineering Explanations: Copilot provides step-by-step mathematical reasoning, citing temperatures and coefficients.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Context-Aware Dialogue: Automatically injects current reservoir state (temperature, pressure, cycle day) into the answer prompt.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OUTPUT SCREENSHOT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Output Screenshots: Dynamic What-If Parameter Action Dispatch</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21 / 24</a:t>
            </a:r>
            <a:endParaRPr lang="en-US" sz="950" dirty="0"/>
          </a:p>
        </p:txBody>
      </p:sp>
      <p:sp>
        <p:nvSpPr>
          <p:cNvPr id="11" name="Shape 9"/>
          <p:cNvSpPr/>
          <p:nvPr/>
        </p:nvSpPr>
        <p:spPr>
          <a:xfrm>
            <a:off x="731520" y="1463040"/>
            <a:ext cx="6949440" cy="4754880"/>
          </a:xfrm>
          <a:prstGeom prst="roundRect">
            <a:avLst>
              <a:gd name="adj" fmla="val 1923"/>
            </a:avLst>
          </a:prstGeom>
          <a:solidFill>
            <a:srgbClr val="2B0901"/>
          </a:solidFill>
          <a:ln w="19050">
            <a:solidFill>
              <a:srgbClr val="FFFFFF"/>
            </a:solidFill>
            <a:prstDash val="solid"/>
          </a:ln>
        </p:spPr>
      </p:sp>
      <p:pic>
        <p:nvPicPr>
          <p:cNvPr id="12" name="Image 0" descr="C:\Users\MITHESH D\.gemini\antigravity-ide\brain\14e63401-9d19-4aa9-8024-e9c8c66482db\ai_copilot_dispatch_orange_178935844482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872808"/>
          </a:solidFill>
          <a:ln w="15240">
            <a:solidFill>
              <a:srgbClr val="FFFFFF"/>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FDE047"/>
                </a:solidFill>
              </a:rPr>
              <a:t>Closed-Loop Parameter Dispatching</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Interactive Action Buttons: When the copilot recommends an optimization ("Apply 6.5 SPM Setpoint"), it renders an embedded button.</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Instant Simulation Update: Clicking the button immediately updates the digital twin's pumping speed and recalculates rod loads.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FFF7ED"/>
                </a:solidFill>
                <a:latin typeface="Segoe UI" pitchFamily="34" charset="0"/>
                <a:ea typeface="Segoe UI" pitchFamily="34" charset="-122"/>
                <a:cs typeface="Segoe UI" pitchFamily="34" charset="-120"/>
              </a:rPr>
              <a:t>• Operator Safety Guardrails: Setpoint changes require explicit operator confirmation, preserving human-in-the-loop safety.</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PROJECT SUMMARY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Conclusion: Summary of Engineering Achievements &amp; Field Value</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22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Key Technical Accomplishments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Unified Dual-Physics Twin: Successfully coupled Andrade thermodynamic viscosity equations with Sucker Rod mechanical dynamics into a single cohesive web application.</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Real-Time 2.0 Hz SCADA Streaming: Built a high-frequency telemetry engine and native Web Audio acoustic synthesizer delivering true industrial SCADA situational awareness.</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Intelligent Conversational Copilot: Developed an open-ended conversational AI capable of on-the-fly what-if scenario solving and closed-loop setpoint dispatching.</a:t>
            </a:r>
            <a:endParaRPr lang="en-US" sz="1000" dirty="0"/>
          </a:p>
        </p:txBody>
      </p:sp>
      <p:sp>
        <p:nvSpPr>
          <p:cNvPr id="16" name="Shape 14"/>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Demonstrated Field &amp; Economic Impact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+28.4% Steam Thermal Efficiency: Predictive soak-time scheduling avoids wasted steam boiler fuel and optimizes thermal energy transfer into the formation.</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-34.8% Reduction in Rod String Fatigue: Automated SPM speed regulation prevents fluid pound impact shocks and prolongs rod string lifespan.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Zero-Install Web Deployment: Accessible instantly via any modern browser or mobile device with zero desktop client installation overhead.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ROADMAP &amp; NEXT GENERATION</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Future Enhancement &amp; Industrial Development Roadmap</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23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Edge IoT &amp; Machine Learning Enhancements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1. Edge IoT RTU Hardware Bridge (MQTT Sparkplug B &amp; OPC-UA): Direct physical coupling with field Modbus TCP RTUs, MQTT brokers, and Siemens/Rockwell PLCs for live field wellhead sensor data ingestion.</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2. Physics-Informed Neural Networks (PINN): Embedding deep learning PINN surrogate models to solve 3D reservoir thermal diffusion equations in sub-milliseconds on edge AI accelerators.</a:t>
            </a:r>
            <a:endParaRPr lang="en-US" sz="1000" dirty="0"/>
          </a:p>
        </p:txBody>
      </p:sp>
      <p:sp>
        <p:nvSpPr>
          <p:cNvPr id="15" name="Shape 13"/>
          <p:cNvSpPr/>
          <p:nvPr/>
        </p:nvSpPr>
        <p:spPr>
          <a:xfrm>
            <a:off x="6217920" y="1463040"/>
            <a:ext cx="5212080" cy="4754880"/>
          </a:xfrm>
          <a:prstGeom prst="roundRect">
            <a:avLst>
              <a:gd name="adj" fmla="val 1923"/>
            </a:avLst>
          </a:prstGeom>
          <a:solidFill>
            <a:srgbClr val="872808"/>
          </a:solidFill>
          <a:ln w="15240">
            <a:solidFill>
              <a:srgbClr val="FFFFFF"/>
            </a:solidFill>
            <a:prstDash val="solid"/>
          </a:ln>
        </p:spPr>
      </p:sp>
      <p:sp>
        <p:nvSpPr>
          <p:cNvPr id="16" name="Text 14"/>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FFFFF"/>
                </a:solidFill>
              </a:rPr>
              <a:t>Autonomous Control &amp; Mobile Deployment</a:t>
            </a:r>
            <a:endParaRPr lang="en-US" sz="1200" dirty="0"/>
          </a:p>
        </p:txBody>
      </p:sp>
      <p:sp>
        <p:nvSpPr>
          <p:cNvPr id="17" name="Text 15"/>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3. Autonomous Closed-Loop VFD Motor Modulation: Enabling autonomous Variable Frequency Drive (VFD) speed modulation, automatically throttling pump SPM upon detecting fluid pound or gas lock.</a:t>
            </a:r>
            <a:endParaRPr lang="en-US" sz="1000" dirty="0"/>
          </a:p>
        </p:txBody>
      </p:sp>
      <p:sp>
        <p:nvSpPr>
          <p:cNvPr id="18" name="Text 16"/>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4. Native Android APK &amp; Cross-Platform Field App: Packaging WELLORA into a native Android APK and iOS field application with push notifications for critical downhole pressure drop and rod stress alarms.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2410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FFFFF"/>
          </a:solidFill>
          <a:ln w="12700">
            <a:solidFill>
              <a:srgbClr val="FFFFFF"/>
            </a:solidFill>
            <a:prstDash val="solid"/>
          </a:ln>
        </p:spPr>
      </p:sp>
      <p:sp>
        <p:nvSpPr>
          <p:cNvPr id="3" name="Shape 1"/>
          <p:cNvSpPr/>
          <p:nvPr/>
        </p:nvSpPr>
        <p:spPr>
          <a:xfrm>
            <a:off x="731520" y="320040"/>
            <a:ext cx="3474720" cy="310896"/>
          </a:xfrm>
          <a:prstGeom prst="roundRect">
            <a:avLst>
              <a:gd name="adj" fmla="val 23529"/>
            </a:avLst>
          </a:prstGeom>
          <a:solidFill>
            <a:srgbClr val="451203"/>
          </a:solidFill>
          <a:ln w="15240">
            <a:solidFill>
              <a:srgbClr val="FFFFFF"/>
            </a:solidFill>
            <a:prstDash val="solid"/>
          </a:ln>
        </p:spPr>
      </p:sp>
      <p:sp>
        <p:nvSpPr>
          <p:cNvPr id="4" name="Text 2"/>
          <p:cNvSpPr/>
          <p:nvPr/>
        </p:nvSpPr>
        <p:spPr>
          <a:xfrm>
            <a:off x="731520" y="320040"/>
            <a:ext cx="3474720" cy="310896"/>
          </a:xfrm>
          <a:prstGeom prst="rect">
            <a:avLst/>
          </a:prstGeom>
          <a:noFill/>
          <a:ln/>
        </p:spPr>
        <p:txBody>
          <a:bodyPr wrap="square" rtlCol="0" anchor="ctr"/>
          <a:lstStyle/>
          <a:p>
            <a:pPr algn="ctr" indent="0" marL="0">
              <a:buNone/>
            </a:pPr>
            <a:r>
              <a:rPr lang="en-US" sz="950" b="1" dirty="0">
                <a:solidFill>
                  <a:srgbClr val="FDE047"/>
                </a:solidFill>
              </a:rPr>
              <a:t>⚙  BIBLIOGRAPHY &amp; STANDARDS</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References &amp; Industry Standards</a:t>
            </a:r>
            <a:endParaRPr lang="en-US" sz="2000" dirty="0"/>
          </a:p>
        </p:txBody>
      </p:sp>
      <p:sp>
        <p:nvSpPr>
          <p:cNvPr id="6" name="Shape 4"/>
          <p:cNvSpPr/>
          <p:nvPr/>
        </p:nvSpPr>
        <p:spPr>
          <a:xfrm>
            <a:off x="731520" y="1234440"/>
            <a:ext cx="10728655" cy="0"/>
          </a:xfrm>
          <a:prstGeom prst="line">
            <a:avLst/>
          </a:prstGeom>
          <a:noFill/>
          <a:ln w="19050">
            <a:solidFill>
              <a:srgbClr val="E06528"/>
            </a:solidFill>
            <a:prstDash val="solid"/>
          </a:ln>
        </p:spPr>
      </p:sp>
      <p:sp>
        <p:nvSpPr>
          <p:cNvPr id="7" name="Shape 5"/>
          <p:cNvSpPr/>
          <p:nvPr/>
        </p:nvSpPr>
        <p:spPr>
          <a:xfrm>
            <a:off x="731520" y="1234440"/>
            <a:ext cx="2560320" cy="0"/>
          </a:xfrm>
          <a:prstGeom prst="line">
            <a:avLst/>
          </a:prstGeom>
          <a:noFill/>
          <a:ln w="31750">
            <a:solidFill>
              <a:srgbClr val="FFFFFF"/>
            </a:solidFill>
            <a:prstDash val="solid"/>
          </a:ln>
        </p:spPr>
      </p:sp>
      <p:sp>
        <p:nvSpPr>
          <p:cNvPr id="8" name="Shape 6"/>
          <p:cNvSpPr/>
          <p:nvPr/>
        </p:nvSpPr>
        <p:spPr>
          <a:xfrm>
            <a:off x="731520" y="6492240"/>
            <a:ext cx="10728655" cy="0"/>
          </a:xfrm>
          <a:prstGeom prst="line">
            <a:avLst/>
          </a:prstGeom>
          <a:noFill/>
          <a:ln w="12700">
            <a:solidFill>
              <a:srgbClr val="E06528"/>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FED7AA"/>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FFFFFF"/>
                </a:solidFill>
                <a:latin typeface="Segoe UI" pitchFamily="34" charset="0"/>
                <a:ea typeface="Segoe UI" pitchFamily="34" charset="-122"/>
                <a:cs typeface="Segoe UI" pitchFamily="34" charset="-120"/>
              </a:rPr>
              <a:t>Slide 24 / 24</a:t>
            </a:r>
            <a:endParaRPr lang="en-US" sz="950" dirty="0"/>
          </a:p>
        </p:txBody>
      </p:sp>
      <p:sp>
        <p:nvSpPr>
          <p:cNvPr id="11" name="Shape 9"/>
          <p:cNvSpPr/>
          <p:nvPr/>
        </p:nvSpPr>
        <p:spPr>
          <a:xfrm>
            <a:off x="731520" y="1463040"/>
            <a:ext cx="5212080" cy="4754880"/>
          </a:xfrm>
          <a:prstGeom prst="roundRect">
            <a:avLst>
              <a:gd name="adj" fmla="val 1923"/>
            </a:avLst>
          </a:prstGeom>
          <a:solidFill>
            <a:srgbClr val="6B2006"/>
          </a:solidFill>
          <a:ln w="15240">
            <a:solidFill>
              <a:srgbClr val="E06528"/>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FDE047"/>
                </a:solidFill>
              </a:rPr>
              <a:t>Industry Standards &amp; Technical Monographs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[1] American Petroleum Institute (API) RP 11L: "Recommended Practice for Design Calculations for Sucker Rod Pumping Systems (Conventional Units)", 5th Edition, API Publishing Services, Washington, D.C.</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[2] Andrade, E. N. da C. (1934): "A Theory of the Viscosity of Liquids", Philosophical Magazine, Series 7, Vol. 17, No. 112, pp. 497-511.</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[3] Prats, M. (1982): "Thermal Recovery", SPE Monograph Volume 7, Society of Petroleum Engineers, Richardson, TX.</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[4] Gibbs, S. G. &amp; Neely, A. B. (1966): "Computer Diagnosis of Down-Hole Conditions in Sucker Rod Pumping Wells", Journal of Petroleum Technology, SPE-1165-PA.</a:t>
            </a:r>
            <a:endParaRPr lang="en-US" sz="1000" dirty="0"/>
          </a:p>
        </p:txBody>
      </p:sp>
      <p:sp>
        <p:nvSpPr>
          <p:cNvPr id="17" name="Shape 15"/>
          <p:cNvSpPr/>
          <p:nvPr/>
        </p:nvSpPr>
        <p:spPr>
          <a:xfrm>
            <a:off x="6217920" y="1463040"/>
            <a:ext cx="5212080" cy="4754880"/>
          </a:xfrm>
          <a:prstGeom prst="roundRect">
            <a:avLst>
              <a:gd name="adj" fmla="val 1923"/>
            </a:avLst>
          </a:prstGeom>
          <a:solidFill>
            <a:srgbClr val="6B2006"/>
          </a:solidFill>
          <a:ln w="15240">
            <a:solidFill>
              <a:srgbClr val="E06528"/>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FDE047"/>
                </a:solidFill>
              </a:rPr>
              <a:t>Petroleum Engineering Literature &amp; Standards</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[5] Butler, R. M. (1991): "Thermal Recovery of Oil and Bitumen", Prentice Hall, Englewood Cliffs, NJ.</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[6] Takacs, G. (2015): "Sucker-Rod Pumping Manual", PennWell Books, Tulsa, OK.</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[7] ISO/IEC 62443: "Industrial communication networks - Network and system security (SCADA Automation)".</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FFF7ED"/>
                </a:solidFill>
                <a:latin typeface="Segoe UI" pitchFamily="34" charset="0"/>
                <a:ea typeface="Segoe UI" pitchFamily="34" charset="-122"/>
                <a:cs typeface="Segoe UI" pitchFamily="34" charset="-120"/>
              </a:rPr>
              <a:t>• [8] IEEE 802.3 / Modbus-IDA: "Modbus Application Protocol Specification v1.1b3 for Industrial RTU SCADA Telemetry".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WELLORA Industrial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WELLORA: Dual-Physics Digital Twin &amp; SCADA AI Optimization System (17.5° API Crude)</dc:title>
  <dc:subject>PptxGenJS Presentation</dc:subject>
  <dc:creator>Mithesh D</dc:creator>
  <cp:lastModifiedBy>Mithesh D</cp:lastModifiedBy>
  <cp:revision>1</cp:revision>
  <dcterms:created xsi:type="dcterms:W3CDTF">2026-09-14T11:04:38Z</dcterms:created>
  <dcterms:modified xsi:type="dcterms:W3CDTF">2026-09-14T11:04:38Z</dcterms:modified>
</cp:coreProperties>
</file>